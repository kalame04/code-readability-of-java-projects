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67" r:id="rId3"/>
    <p:sldId id="274" r:id="rId4"/>
    <p:sldId id="257" r:id="rId5"/>
    <p:sldId id="269" r:id="rId6"/>
    <p:sldId id="261" r:id="rId7"/>
    <p:sldId id="270" r:id="rId8"/>
    <p:sldId id="275" r:id="rId9"/>
    <p:sldId id="276" r:id="rId10"/>
    <p:sldId id="277" r:id="rId11"/>
    <p:sldId id="278" r:id="rId12"/>
    <p:sldId id="262" r:id="rId13"/>
    <p:sldId id="279" r:id="rId14"/>
    <p:sldId id="280" r:id="rId15"/>
    <p:sldId id="281" r:id="rId16"/>
    <p:sldId id="282" r:id="rId17"/>
    <p:sldId id="283" r:id="rId18"/>
    <p:sldId id="284" r:id="rId19"/>
    <p:sldId id="285" r:id="rId20"/>
    <p:sldId id="286" r:id="rId21"/>
    <p:sldId id="266" r:id="rId22"/>
    <p:sldId id="263" r:id="rId23"/>
    <p:sldId id="264" r:id="rId24"/>
    <p:sldId id="273" r:id="rId25"/>
    <p:sldId id="268"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72" autoAdjust="0"/>
    <p:restoredTop sz="74188" autoAdjust="0"/>
  </p:normalViewPr>
  <p:slideViewPr>
    <p:cSldViewPr snapToGrid="0" snapToObjects="1">
      <p:cViewPr varScale="1">
        <p:scale>
          <a:sx n="75" d="100"/>
          <a:sy n="75" d="100"/>
        </p:scale>
        <p:origin x="-181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interSettings" Target="printerSettings/printerSettings1.bin"/><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E776C4-B741-F844-A84D-47F61193BC66}" type="doc">
      <dgm:prSet loTypeId="urn:microsoft.com/office/officeart/2005/8/layout/radial4" loCatId="" qsTypeId="urn:microsoft.com/office/officeart/2005/8/quickstyle/simple4" qsCatId="simple" csTypeId="urn:microsoft.com/office/officeart/2005/8/colors/accent1_2" csCatId="accent1" phldr="1"/>
      <dgm:spPr/>
      <dgm:t>
        <a:bodyPr/>
        <a:lstStyle/>
        <a:p>
          <a:endParaRPr lang="en-US"/>
        </a:p>
      </dgm:t>
    </dgm:pt>
    <dgm:pt modelId="{9B3DC8F3-EC47-4742-A78D-1FC9AD500865}">
      <dgm:prSet phldrT="[Text]"/>
      <dgm:spPr/>
      <dgm:t>
        <a:bodyPr/>
        <a:lstStyle/>
        <a:p>
          <a:r>
            <a:rPr lang="en-US" dirty="0" smtClean="0"/>
            <a:t>Reports</a:t>
          </a:r>
          <a:endParaRPr lang="en-US" dirty="0"/>
        </a:p>
      </dgm:t>
    </dgm:pt>
    <dgm:pt modelId="{2D759EDE-0D65-B246-BA6C-58D9A02956FA}" type="parTrans" cxnId="{942481E4-348D-634D-830A-5868C4D98982}">
      <dgm:prSet/>
      <dgm:spPr/>
      <dgm:t>
        <a:bodyPr/>
        <a:lstStyle/>
        <a:p>
          <a:endParaRPr lang="en-US"/>
        </a:p>
      </dgm:t>
    </dgm:pt>
    <dgm:pt modelId="{61000C9E-BFD0-7B42-9A17-1DE60203AFB2}" type="sibTrans" cxnId="{942481E4-348D-634D-830A-5868C4D98982}">
      <dgm:prSet/>
      <dgm:spPr/>
      <dgm:t>
        <a:bodyPr/>
        <a:lstStyle/>
        <a:p>
          <a:endParaRPr lang="en-US"/>
        </a:p>
      </dgm:t>
    </dgm:pt>
    <dgm:pt modelId="{EA3129C9-34E8-FF49-8A31-8F4968E2208C}">
      <dgm:prSet phldrT="[Text]"/>
      <dgm:spPr/>
      <dgm:t>
        <a:bodyPr/>
        <a:lstStyle/>
        <a:p>
          <a:r>
            <a:rPr lang="en-US" dirty="0" smtClean="0"/>
            <a:t>Phase1</a:t>
          </a:r>
          <a:endParaRPr lang="en-US" dirty="0"/>
        </a:p>
      </dgm:t>
    </dgm:pt>
    <dgm:pt modelId="{A5853B52-8B87-054F-B9DC-7AF1FE0B5E3A}" type="parTrans" cxnId="{CCF39678-EBFE-6D4F-B3B7-AB79DD0E6654}">
      <dgm:prSet/>
      <dgm:spPr/>
      <dgm:t>
        <a:bodyPr/>
        <a:lstStyle/>
        <a:p>
          <a:endParaRPr lang="en-US"/>
        </a:p>
      </dgm:t>
    </dgm:pt>
    <dgm:pt modelId="{9026130A-A63C-ED48-BD3F-DD8FF01BEC27}" type="sibTrans" cxnId="{CCF39678-EBFE-6D4F-B3B7-AB79DD0E6654}">
      <dgm:prSet/>
      <dgm:spPr/>
      <dgm:t>
        <a:bodyPr/>
        <a:lstStyle/>
        <a:p>
          <a:endParaRPr lang="en-US"/>
        </a:p>
      </dgm:t>
    </dgm:pt>
    <dgm:pt modelId="{DDA22F96-237D-CF42-8BA8-8E509CEDA5CF}">
      <dgm:prSet phldrT="[Text]"/>
      <dgm:spPr/>
      <dgm:t>
        <a:bodyPr/>
        <a:lstStyle/>
        <a:p>
          <a:r>
            <a:rPr lang="en-US" dirty="0" smtClean="0"/>
            <a:t>Phase 2</a:t>
          </a:r>
          <a:endParaRPr lang="en-US" dirty="0"/>
        </a:p>
      </dgm:t>
    </dgm:pt>
    <dgm:pt modelId="{3481860C-9CF8-D94C-B0DD-0710F6AA8D10}" type="parTrans" cxnId="{C0F25AEF-0CEE-5A48-A9F6-2DDB6945E9AD}">
      <dgm:prSet/>
      <dgm:spPr/>
      <dgm:t>
        <a:bodyPr/>
        <a:lstStyle/>
        <a:p>
          <a:endParaRPr lang="en-US"/>
        </a:p>
      </dgm:t>
    </dgm:pt>
    <dgm:pt modelId="{835064F7-94B4-104E-8495-D2FCB2E15746}" type="sibTrans" cxnId="{C0F25AEF-0CEE-5A48-A9F6-2DDB6945E9AD}">
      <dgm:prSet/>
      <dgm:spPr/>
      <dgm:t>
        <a:bodyPr/>
        <a:lstStyle/>
        <a:p>
          <a:endParaRPr lang="en-US"/>
        </a:p>
      </dgm:t>
    </dgm:pt>
    <dgm:pt modelId="{7B9CC16C-ECBC-F74E-A668-6315EA698281}">
      <dgm:prSet phldrT="[Text]"/>
      <dgm:spPr/>
      <dgm:t>
        <a:bodyPr/>
        <a:lstStyle/>
        <a:p>
          <a:r>
            <a:rPr lang="en-US" dirty="0" smtClean="0"/>
            <a:t>Phase 3</a:t>
          </a:r>
          <a:endParaRPr lang="en-US" dirty="0"/>
        </a:p>
      </dgm:t>
    </dgm:pt>
    <dgm:pt modelId="{A3FF01C7-C90F-5741-BDA8-5C2CF3940358}" type="parTrans" cxnId="{00FCFBEA-11C8-1F4F-B4E4-8D976AE8EE2A}">
      <dgm:prSet/>
      <dgm:spPr/>
      <dgm:t>
        <a:bodyPr/>
        <a:lstStyle/>
        <a:p>
          <a:endParaRPr lang="en-US"/>
        </a:p>
      </dgm:t>
    </dgm:pt>
    <dgm:pt modelId="{30E9FCE0-B0D5-4047-8FEE-60962330A32A}" type="sibTrans" cxnId="{00FCFBEA-11C8-1F4F-B4E4-8D976AE8EE2A}">
      <dgm:prSet/>
      <dgm:spPr/>
      <dgm:t>
        <a:bodyPr/>
        <a:lstStyle/>
        <a:p>
          <a:endParaRPr lang="en-US"/>
        </a:p>
      </dgm:t>
    </dgm:pt>
    <dgm:pt modelId="{12493A8A-DAFB-124F-8FCB-3CA17BF8F6FB}" type="pres">
      <dgm:prSet presAssocID="{83E776C4-B741-F844-A84D-47F61193BC66}" presName="cycle" presStyleCnt="0">
        <dgm:presLayoutVars>
          <dgm:chMax val="1"/>
          <dgm:dir/>
          <dgm:animLvl val="ctr"/>
          <dgm:resizeHandles val="exact"/>
        </dgm:presLayoutVars>
      </dgm:prSet>
      <dgm:spPr/>
      <dgm:t>
        <a:bodyPr/>
        <a:lstStyle/>
        <a:p>
          <a:endParaRPr lang="en-US"/>
        </a:p>
      </dgm:t>
    </dgm:pt>
    <dgm:pt modelId="{DDB74A83-2575-7C48-96AD-58242BF33775}" type="pres">
      <dgm:prSet presAssocID="{9B3DC8F3-EC47-4742-A78D-1FC9AD500865}" presName="centerShape" presStyleLbl="node0" presStyleIdx="0" presStyleCnt="1"/>
      <dgm:spPr/>
      <dgm:t>
        <a:bodyPr/>
        <a:lstStyle/>
        <a:p>
          <a:endParaRPr lang="en-US"/>
        </a:p>
      </dgm:t>
    </dgm:pt>
    <dgm:pt modelId="{6F79ABF7-E062-F94D-A3C2-EA12B8D5B390}" type="pres">
      <dgm:prSet presAssocID="{A5853B52-8B87-054F-B9DC-7AF1FE0B5E3A}" presName="parTrans" presStyleLbl="bgSibTrans2D1" presStyleIdx="0" presStyleCnt="3"/>
      <dgm:spPr/>
      <dgm:t>
        <a:bodyPr/>
        <a:lstStyle/>
        <a:p>
          <a:endParaRPr lang="en-US"/>
        </a:p>
      </dgm:t>
    </dgm:pt>
    <dgm:pt modelId="{9E94D71F-4D10-BC40-A4E5-12459011F189}" type="pres">
      <dgm:prSet presAssocID="{EA3129C9-34E8-FF49-8A31-8F4968E2208C}" presName="node" presStyleLbl="node1" presStyleIdx="0" presStyleCnt="3" custScaleY="60384">
        <dgm:presLayoutVars>
          <dgm:bulletEnabled val="1"/>
        </dgm:presLayoutVars>
      </dgm:prSet>
      <dgm:spPr/>
      <dgm:t>
        <a:bodyPr/>
        <a:lstStyle/>
        <a:p>
          <a:endParaRPr lang="en-US"/>
        </a:p>
      </dgm:t>
    </dgm:pt>
    <dgm:pt modelId="{1853D267-1827-D24F-8E7F-16A7EBFBD6AF}" type="pres">
      <dgm:prSet presAssocID="{3481860C-9CF8-D94C-B0DD-0710F6AA8D10}" presName="parTrans" presStyleLbl="bgSibTrans2D1" presStyleIdx="1" presStyleCnt="3"/>
      <dgm:spPr/>
      <dgm:t>
        <a:bodyPr/>
        <a:lstStyle/>
        <a:p>
          <a:endParaRPr lang="en-US"/>
        </a:p>
      </dgm:t>
    </dgm:pt>
    <dgm:pt modelId="{48A3B9C4-B8AC-FA44-975A-E080677A9AA5}" type="pres">
      <dgm:prSet presAssocID="{DDA22F96-237D-CF42-8BA8-8E509CEDA5CF}" presName="node" presStyleLbl="node1" presStyleIdx="1" presStyleCnt="3" custScaleX="126234" custScaleY="71435">
        <dgm:presLayoutVars>
          <dgm:bulletEnabled val="1"/>
        </dgm:presLayoutVars>
      </dgm:prSet>
      <dgm:spPr/>
      <dgm:t>
        <a:bodyPr/>
        <a:lstStyle/>
        <a:p>
          <a:endParaRPr lang="en-US"/>
        </a:p>
      </dgm:t>
    </dgm:pt>
    <dgm:pt modelId="{384C8A25-E0A0-D648-943A-5B85086BC7C2}" type="pres">
      <dgm:prSet presAssocID="{A3FF01C7-C90F-5741-BDA8-5C2CF3940358}" presName="parTrans" presStyleLbl="bgSibTrans2D1" presStyleIdx="2" presStyleCnt="3"/>
      <dgm:spPr/>
      <dgm:t>
        <a:bodyPr/>
        <a:lstStyle/>
        <a:p>
          <a:endParaRPr lang="en-US"/>
        </a:p>
      </dgm:t>
    </dgm:pt>
    <dgm:pt modelId="{EB18395C-D61F-1F48-8BCD-4E0361170DD9}" type="pres">
      <dgm:prSet presAssocID="{7B9CC16C-ECBC-F74E-A668-6315EA698281}" presName="node" presStyleLbl="node1" presStyleIdx="2" presStyleCnt="3" custScaleX="103743" custScaleY="76789" custRadScaleRad="108264" custRadScaleInc="5012">
        <dgm:presLayoutVars>
          <dgm:bulletEnabled val="1"/>
        </dgm:presLayoutVars>
      </dgm:prSet>
      <dgm:spPr/>
      <dgm:t>
        <a:bodyPr/>
        <a:lstStyle/>
        <a:p>
          <a:endParaRPr lang="en-US"/>
        </a:p>
      </dgm:t>
    </dgm:pt>
  </dgm:ptLst>
  <dgm:cxnLst>
    <dgm:cxn modelId="{00FCFBEA-11C8-1F4F-B4E4-8D976AE8EE2A}" srcId="{9B3DC8F3-EC47-4742-A78D-1FC9AD500865}" destId="{7B9CC16C-ECBC-F74E-A668-6315EA698281}" srcOrd="2" destOrd="0" parTransId="{A3FF01C7-C90F-5741-BDA8-5C2CF3940358}" sibTransId="{30E9FCE0-B0D5-4047-8FEE-60962330A32A}"/>
    <dgm:cxn modelId="{76CAA9FE-413B-4F42-B73D-A7734533E1E4}" type="presOf" srcId="{DDA22F96-237D-CF42-8BA8-8E509CEDA5CF}" destId="{48A3B9C4-B8AC-FA44-975A-E080677A9AA5}" srcOrd="0" destOrd="0" presId="urn:microsoft.com/office/officeart/2005/8/layout/radial4"/>
    <dgm:cxn modelId="{F4AA9249-D66F-0B41-A325-80199CEB15DE}" type="presOf" srcId="{9B3DC8F3-EC47-4742-A78D-1FC9AD500865}" destId="{DDB74A83-2575-7C48-96AD-58242BF33775}" srcOrd="0" destOrd="0" presId="urn:microsoft.com/office/officeart/2005/8/layout/radial4"/>
    <dgm:cxn modelId="{84FC3952-2D7A-3540-A9CB-27DBEBAD0253}" type="presOf" srcId="{83E776C4-B741-F844-A84D-47F61193BC66}" destId="{12493A8A-DAFB-124F-8FCB-3CA17BF8F6FB}" srcOrd="0" destOrd="0" presId="urn:microsoft.com/office/officeart/2005/8/layout/radial4"/>
    <dgm:cxn modelId="{CCF39678-EBFE-6D4F-B3B7-AB79DD0E6654}" srcId="{9B3DC8F3-EC47-4742-A78D-1FC9AD500865}" destId="{EA3129C9-34E8-FF49-8A31-8F4968E2208C}" srcOrd="0" destOrd="0" parTransId="{A5853B52-8B87-054F-B9DC-7AF1FE0B5E3A}" sibTransId="{9026130A-A63C-ED48-BD3F-DD8FF01BEC27}"/>
    <dgm:cxn modelId="{81B2A5A4-B593-6744-BF8F-46BFAC0317DB}" type="presOf" srcId="{A5853B52-8B87-054F-B9DC-7AF1FE0B5E3A}" destId="{6F79ABF7-E062-F94D-A3C2-EA12B8D5B390}" srcOrd="0" destOrd="0" presId="urn:microsoft.com/office/officeart/2005/8/layout/radial4"/>
    <dgm:cxn modelId="{942481E4-348D-634D-830A-5868C4D98982}" srcId="{83E776C4-B741-F844-A84D-47F61193BC66}" destId="{9B3DC8F3-EC47-4742-A78D-1FC9AD500865}" srcOrd="0" destOrd="0" parTransId="{2D759EDE-0D65-B246-BA6C-58D9A02956FA}" sibTransId="{61000C9E-BFD0-7B42-9A17-1DE60203AFB2}"/>
    <dgm:cxn modelId="{C0F25AEF-0CEE-5A48-A9F6-2DDB6945E9AD}" srcId="{9B3DC8F3-EC47-4742-A78D-1FC9AD500865}" destId="{DDA22F96-237D-CF42-8BA8-8E509CEDA5CF}" srcOrd="1" destOrd="0" parTransId="{3481860C-9CF8-D94C-B0DD-0710F6AA8D10}" sibTransId="{835064F7-94B4-104E-8495-D2FCB2E15746}"/>
    <dgm:cxn modelId="{AB651D8B-99C1-E340-9F10-A4FC4B9E21A7}" type="presOf" srcId="{7B9CC16C-ECBC-F74E-A668-6315EA698281}" destId="{EB18395C-D61F-1F48-8BCD-4E0361170DD9}" srcOrd="0" destOrd="0" presId="urn:microsoft.com/office/officeart/2005/8/layout/radial4"/>
    <dgm:cxn modelId="{48FCF816-2951-CD48-B671-E778B766DC64}" type="presOf" srcId="{3481860C-9CF8-D94C-B0DD-0710F6AA8D10}" destId="{1853D267-1827-D24F-8E7F-16A7EBFBD6AF}" srcOrd="0" destOrd="0" presId="urn:microsoft.com/office/officeart/2005/8/layout/radial4"/>
    <dgm:cxn modelId="{F2F7130B-1439-E044-A1F7-04CDA79A0664}" type="presOf" srcId="{EA3129C9-34E8-FF49-8A31-8F4968E2208C}" destId="{9E94D71F-4D10-BC40-A4E5-12459011F189}" srcOrd="0" destOrd="0" presId="urn:microsoft.com/office/officeart/2005/8/layout/radial4"/>
    <dgm:cxn modelId="{CA3D2733-95F6-BA4D-A304-ED73ECD1C79B}" type="presOf" srcId="{A3FF01C7-C90F-5741-BDA8-5C2CF3940358}" destId="{384C8A25-E0A0-D648-943A-5B85086BC7C2}" srcOrd="0" destOrd="0" presId="urn:microsoft.com/office/officeart/2005/8/layout/radial4"/>
    <dgm:cxn modelId="{BDB256B9-7EA9-7049-B3E8-3E38E2CA76DB}" type="presParOf" srcId="{12493A8A-DAFB-124F-8FCB-3CA17BF8F6FB}" destId="{DDB74A83-2575-7C48-96AD-58242BF33775}" srcOrd="0" destOrd="0" presId="urn:microsoft.com/office/officeart/2005/8/layout/radial4"/>
    <dgm:cxn modelId="{2B7E6048-90E6-A54C-B522-D536AB336E5C}" type="presParOf" srcId="{12493A8A-DAFB-124F-8FCB-3CA17BF8F6FB}" destId="{6F79ABF7-E062-F94D-A3C2-EA12B8D5B390}" srcOrd="1" destOrd="0" presId="urn:microsoft.com/office/officeart/2005/8/layout/radial4"/>
    <dgm:cxn modelId="{FD8586A0-7D98-2D4C-93F0-197304629D6D}" type="presParOf" srcId="{12493A8A-DAFB-124F-8FCB-3CA17BF8F6FB}" destId="{9E94D71F-4D10-BC40-A4E5-12459011F189}" srcOrd="2" destOrd="0" presId="urn:microsoft.com/office/officeart/2005/8/layout/radial4"/>
    <dgm:cxn modelId="{AF6DA72E-50B6-6841-87ED-6B19DB52E8F7}" type="presParOf" srcId="{12493A8A-DAFB-124F-8FCB-3CA17BF8F6FB}" destId="{1853D267-1827-D24F-8E7F-16A7EBFBD6AF}" srcOrd="3" destOrd="0" presId="urn:microsoft.com/office/officeart/2005/8/layout/radial4"/>
    <dgm:cxn modelId="{6969B2DF-5535-C34B-AE35-E34393A80560}" type="presParOf" srcId="{12493A8A-DAFB-124F-8FCB-3CA17BF8F6FB}" destId="{48A3B9C4-B8AC-FA44-975A-E080677A9AA5}" srcOrd="4" destOrd="0" presId="urn:microsoft.com/office/officeart/2005/8/layout/radial4"/>
    <dgm:cxn modelId="{C2FBF718-1066-5140-A3AA-4603EB14A968}" type="presParOf" srcId="{12493A8A-DAFB-124F-8FCB-3CA17BF8F6FB}" destId="{384C8A25-E0A0-D648-943A-5B85086BC7C2}" srcOrd="5" destOrd="0" presId="urn:microsoft.com/office/officeart/2005/8/layout/radial4"/>
    <dgm:cxn modelId="{8ECB1309-2950-F94D-A9BF-38BE6F78E01C}" type="presParOf" srcId="{12493A8A-DAFB-124F-8FCB-3CA17BF8F6FB}" destId="{EB18395C-D61F-1F48-8BCD-4E0361170DD9}"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7D235B-419C-A74C-AC1C-66EF88E66A53}" type="doc">
      <dgm:prSet loTypeId="urn:microsoft.com/office/officeart/2005/8/layout/equation2" loCatId="" qsTypeId="urn:microsoft.com/office/officeart/2005/8/quickstyle/simple4" qsCatId="simple" csTypeId="urn:microsoft.com/office/officeart/2005/8/colors/accent1_2" csCatId="accent1" phldr="1"/>
      <dgm:spPr/>
      <dgm:t>
        <a:bodyPr/>
        <a:lstStyle/>
        <a:p>
          <a:endParaRPr lang="en-US"/>
        </a:p>
      </dgm:t>
    </dgm:pt>
    <dgm:pt modelId="{3384FC48-FC1C-7345-B7D5-4EB69B9FA0B2}">
      <dgm:prSet/>
      <dgm:spPr/>
      <dgm:t>
        <a:bodyPr/>
        <a:lstStyle/>
        <a:p>
          <a:r>
            <a:rPr lang="en-US" dirty="0" smtClean="0"/>
            <a:t>Correlation</a:t>
          </a:r>
        </a:p>
      </dgm:t>
    </dgm:pt>
    <dgm:pt modelId="{0687B41A-C4EA-C344-95F4-7BBFA388A8F0}" type="parTrans" cxnId="{D3E8D801-6EF8-084E-8AF4-76EBBB492267}">
      <dgm:prSet/>
      <dgm:spPr/>
      <dgm:t>
        <a:bodyPr/>
        <a:lstStyle/>
        <a:p>
          <a:endParaRPr lang="en-US"/>
        </a:p>
      </dgm:t>
    </dgm:pt>
    <dgm:pt modelId="{95932E61-FD87-0748-9E58-E392457F00E0}" type="sibTrans" cxnId="{D3E8D801-6EF8-084E-8AF4-76EBBB492267}">
      <dgm:prSet/>
      <dgm:spPr/>
      <dgm:t>
        <a:bodyPr/>
        <a:lstStyle/>
        <a:p>
          <a:endParaRPr lang="en-US"/>
        </a:p>
      </dgm:t>
    </dgm:pt>
    <dgm:pt modelId="{A4B2C61E-5792-5143-985A-F363EDDA62F6}">
      <dgm:prSet phldrT="[Text]"/>
      <dgm:spPr/>
      <dgm:t>
        <a:bodyPr/>
        <a:lstStyle/>
        <a:p>
          <a:r>
            <a:rPr lang="en-US" dirty="0" smtClean="0"/>
            <a:t>Survey data</a:t>
          </a:r>
          <a:endParaRPr lang="en-US" dirty="0"/>
        </a:p>
      </dgm:t>
    </dgm:pt>
    <dgm:pt modelId="{9D6FF58E-B33E-614B-A13B-639B11A471DE}" type="parTrans" cxnId="{8AAF5E03-0EEA-3042-B57D-7719D1CF7CA9}">
      <dgm:prSet/>
      <dgm:spPr/>
      <dgm:t>
        <a:bodyPr/>
        <a:lstStyle/>
        <a:p>
          <a:endParaRPr lang="en-US"/>
        </a:p>
      </dgm:t>
    </dgm:pt>
    <dgm:pt modelId="{16AE25B1-F3CA-064E-A5B8-664EE8776C80}" type="sibTrans" cxnId="{8AAF5E03-0EEA-3042-B57D-7719D1CF7CA9}">
      <dgm:prSet/>
      <dgm:spPr/>
      <dgm:t>
        <a:bodyPr/>
        <a:lstStyle/>
        <a:p>
          <a:endParaRPr lang="en-US"/>
        </a:p>
      </dgm:t>
    </dgm:pt>
    <dgm:pt modelId="{36518402-A074-0946-970C-F5E625AE8970}">
      <dgm:prSet phldrT="[Text]"/>
      <dgm:spPr/>
      <dgm:t>
        <a:bodyPr/>
        <a:lstStyle/>
        <a:p>
          <a:r>
            <a:rPr lang="en-US" dirty="0" smtClean="0"/>
            <a:t>Results</a:t>
          </a:r>
          <a:endParaRPr lang="en-US" dirty="0"/>
        </a:p>
      </dgm:t>
    </dgm:pt>
    <dgm:pt modelId="{69CCAD04-F869-FE4C-9994-8DA969E1AE7C}" type="parTrans" cxnId="{7277DADC-1B37-B44B-A0C4-3E996126DE00}">
      <dgm:prSet/>
      <dgm:spPr/>
      <dgm:t>
        <a:bodyPr/>
        <a:lstStyle/>
        <a:p>
          <a:endParaRPr lang="en-US"/>
        </a:p>
      </dgm:t>
    </dgm:pt>
    <dgm:pt modelId="{E8D77065-348B-F747-B898-88210FB245FD}" type="sibTrans" cxnId="{7277DADC-1B37-B44B-A0C4-3E996126DE00}">
      <dgm:prSet/>
      <dgm:spPr/>
      <dgm:t>
        <a:bodyPr/>
        <a:lstStyle/>
        <a:p>
          <a:endParaRPr lang="en-US"/>
        </a:p>
      </dgm:t>
    </dgm:pt>
    <dgm:pt modelId="{BCE18CDA-F4EE-0F41-B909-275DBC297562}" type="pres">
      <dgm:prSet presAssocID="{477D235B-419C-A74C-AC1C-66EF88E66A53}" presName="Name0" presStyleCnt="0">
        <dgm:presLayoutVars>
          <dgm:dir/>
          <dgm:resizeHandles val="exact"/>
        </dgm:presLayoutVars>
      </dgm:prSet>
      <dgm:spPr/>
      <dgm:t>
        <a:bodyPr/>
        <a:lstStyle/>
        <a:p>
          <a:endParaRPr lang="en-US"/>
        </a:p>
      </dgm:t>
    </dgm:pt>
    <dgm:pt modelId="{D7E48B5D-C196-B44E-8BE8-848E09BEB976}" type="pres">
      <dgm:prSet presAssocID="{477D235B-419C-A74C-AC1C-66EF88E66A53}" presName="vNodes" presStyleCnt="0"/>
      <dgm:spPr/>
    </dgm:pt>
    <dgm:pt modelId="{53649CA3-4481-2E43-9452-847A3D73FB5E}" type="pres">
      <dgm:prSet presAssocID="{36518402-A074-0946-970C-F5E625AE8970}" presName="node" presStyleLbl="node1" presStyleIdx="0" presStyleCnt="3">
        <dgm:presLayoutVars>
          <dgm:bulletEnabled val="1"/>
        </dgm:presLayoutVars>
      </dgm:prSet>
      <dgm:spPr/>
      <dgm:t>
        <a:bodyPr/>
        <a:lstStyle/>
        <a:p>
          <a:endParaRPr lang="en-US"/>
        </a:p>
      </dgm:t>
    </dgm:pt>
    <dgm:pt modelId="{14619D6F-5128-FA43-BB54-B2AD3902F95D}" type="pres">
      <dgm:prSet presAssocID="{E8D77065-348B-F747-B898-88210FB245FD}" presName="spacerT" presStyleCnt="0"/>
      <dgm:spPr/>
    </dgm:pt>
    <dgm:pt modelId="{289DA331-CC83-A14A-BC2D-86AFAC6D1691}" type="pres">
      <dgm:prSet presAssocID="{E8D77065-348B-F747-B898-88210FB245FD}" presName="sibTrans" presStyleLbl="sibTrans2D1" presStyleIdx="0" presStyleCnt="2"/>
      <dgm:spPr/>
      <dgm:t>
        <a:bodyPr/>
        <a:lstStyle/>
        <a:p>
          <a:endParaRPr lang="en-US"/>
        </a:p>
      </dgm:t>
    </dgm:pt>
    <dgm:pt modelId="{9D1F6605-49BC-574C-9CF3-783579EACAA4}" type="pres">
      <dgm:prSet presAssocID="{E8D77065-348B-F747-B898-88210FB245FD}" presName="spacerB" presStyleCnt="0"/>
      <dgm:spPr/>
    </dgm:pt>
    <dgm:pt modelId="{43808812-807E-7344-94F7-22D0334CB05E}" type="pres">
      <dgm:prSet presAssocID="{A4B2C61E-5792-5143-985A-F363EDDA62F6}" presName="node" presStyleLbl="node1" presStyleIdx="1" presStyleCnt="3">
        <dgm:presLayoutVars>
          <dgm:bulletEnabled val="1"/>
        </dgm:presLayoutVars>
      </dgm:prSet>
      <dgm:spPr/>
      <dgm:t>
        <a:bodyPr/>
        <a:lstStyle/>
        <a:p>
          <a:endParaRPr lang="en-US"/>
        </a:p>
      </dgm:t>
    </dgm:pt>
    <dgm:pt modelId="{D869CF25-877B-714D-B54F-CE3D30C0E987}" type="pres">
      <dgm:prSet presAssocID="{477D235B-419C-A74C-AC1C-66EF88E66A53}" presName="sibTransLast" presStyleLbl="sibTrans2D1" presStyleIdx="1" presStyleCnt="2"/>
      <dgm:spPr/>
      <dgm:t>
        <a:bodyPr/>
        <a:lstStyle/>
        <a:p>
          <a:endParaRPr lang="en-US"/>
        </a:p>
      </dgm:t>
    </dgm:pt>
    <dgm:pt modelId="{B1D5D7E0-16AE-0E4E-93F5-68C7C0B0D3AB}" type="pres">
      <dgm:prSet presAssocID="{477D235B-419C-A74C-AC1C-66EF88E66A53}" presName="connectorText" presStyleLbl="sibTrans2D1" presStyleIdx="1" presStyleCnt="2"/>
      <dgm:spPr/>
      <dgm:t>
        <a:bodyPr/>
        <a:lstStyle/>
        <a:p>
          <a:endParaRPr lang="en-US"/>
        </a:p>
      </dgm:t>
    </dgm:pt>
    <dgm:pt modelId="{C464A1DB-12D6-ED4E-A403-47C25B4E6DD3}" type="pres">
      <dgm:prSet presAssocID="{477D235B-419C-A74C-AC1C-66EF88E66A53}" presName="lastNode" presStyleLbl="node1" presStyleIdx="2" presStyleCnt="3" custLinFactNeighborX="-33117" custLinFactNeighborY="-15">
        <dgm:presLayoutVars>
          <dgm:bulletEnabled val="1"/>
        </dgm:presLayoutVars>
      </dgm:prSet>
      <dgm:spPr/>
      <dgm:t>
        <a:bodyPr/>
        <a:lstStyle/>
        <a:p>
          <a:endParaRPr lang="en-US"/>
        </a:p>
      </dgm:t>
    </dgm:pt>
  </dgm:ptLst>
  <dgm:cxnLst>
    <dgm:cxn modelId="{AE570FD7-DF0F-DA4A-BDBF-4B281DCFF1C6}" type="presOf" srcId="{36518402-A074-0946-970C-F5E625AE8970}" destId="{53649CA3-4481-2E43-9452-847A3D73FB5E}" srcOrd="0" destOrd="0" presId="urn:microsoft.com/office/officeart/2005/8/layout/equation2"/>
    <dgm:cxn modelId="{8B06F851-7D12-A04F-95DC-CE349E1A2C5F}" type="presOf" srcId="{16AE25B1-F3CA-064E-A5B8-664EE8776C80}" destId="{D869CF25-877B-714D-B54F-CE3D30C0E987}" srcOrd="0" destOrd="0" presId="urn:microsoft.com/office/officeart/2005/8/layout/equation2"/>
    <dgm:cxn modelId="{4F1B196D-652B-5844-B22D-532367AEEBB8}" type="presOf" srcId="{16AE25B1-F3CA-064E-A5B8-664EE8776C80}" destId="{B1D5D7E0-16AE-0E4E-93F5-68C7C0B0D3AB}" srcOrd="1" destOrd="0" presId="urn:microsoft.com/office/officeart/2005/8/layout/equation2"/>
    <dgm:cxn modelId="{D3E8D801-6EF8-084E-8AF4-76EBBB492267}" srcId="{477D235B-419C-A74C-AC1C-66EF88E66A53}" destId="{3384FC48-FC1C-7345-B7D5-4EB69B9FA0B2}" srcOrd="2" destOrd="0" parTransId="{0687B41A-C4EA-C344-95F4-7BBFA388A8F0}" sibTransId="{95932E61-FD87-0748-9E58-E392457F00E0}"/>
    <dgm:cxn modelId="{8AAF5E03-0EEA-3042-B57D-7719D1CF7CA9}" srcId="{477D235B-419C-A74C-AC1C-66EF88E66A53}" destId="{A4B2C61E-5792-5143-985A-F363EDDA62F6}" srcOrd="1" destOrd="0" parTransId="{9D6FF58E-B33E-614B-A13B-639B11A471DE}" sibTransId="{16AE25B1-F3CA-064E-A5B8-664EE8776C80}"/>
    <dgm:cxn modelId="{9ACA5405-CD2A-554F-A63F-DF9A2F9AB96D}" type="presOf" srcId="{E8D77065-348B-F747-B898-88210FB245FD}" destId="{289DA331-CC83-A14A-BC2D-86AFAC6D1691}" srcOrd="0" destOrd="0" presId="urn:microsoft.com/office/officeart/2005/8/layout/equation2"/>
    <dgm:cxn modelId="{EBE38EA3-BC3F-C74A-915A-4DC79D2004AF}" type="presOf" srcId="{3384FC48-FC1C-7345-B7D5-4EB69B9FA0B2}" destId="{C464A1DB-12D6-ED4E-A403-47C25B4E6DD3}" srcOrd="0" destOrd="0" presId="urn:microsoft.com/office/officeart/2005/8/layout/equation2"/>
    <dgm:cxn modelId="{90236957-E569-FF45-956A-E5BABC7F8FFF}" type="presOf" srcId="{A4B2C61E-5792-5143-985A-F363EDDA62F6}" destId="{43808812-807E-7344-94F7-22D0334CB05E}" srcOrd="0" destOrd="0" presId="urn:microsoft.com/office/officeart/2005/8/layout/equation2"/>
    <dgm:cxn modelId="{EEE83A83-55C0-FD42-AA7F-28E92C3BC4F3}" type="presOf" srcId="{477D235B-419C-A74C-AC1C-66EF88E66A53}" destId="{BCE18CDA-F4EE-0F41-B909-275DBC297562}" srcOrd="0" destOrd="0" presId="urn:microsoft.com/office/officeart/2005/8/layout/equation2"/>
    <dgm:cxn modelId="{7277DADC-1B37-B44B-A0C4-3E996126DE00}" srcId="{477D235B-419C-A74C-AC1C-66EF88E66A53}" destId="{36518402-A074-0946-970C-F5E625AE8970}" srcOrd="0" destOrd="0" parTransId="{69CCAD04-F869-FE4C-9994-8DA969E1AE7C}" sibTransId="{E8D77065-348B-F747-B898-88210FB245FD}"/>
    <dgm:cxn modelId="{00BF262F-A736-8043-AA9A-E1BFA5694B51}" type="presParOf" srcId="{BCE18CDA-F4EE-0F41-B909-275DBC297562}" destId="{D7E48B5D-C196-B44E-8BE8-848E09BEB976}" srcOrd="0" destOrd="0" presId="urn:microsoft.com/office/officeart/2005/8/layout/equation2"/>
    <dgm:cxn modelId="{A5002197-C537-A642-82D6-D0757DF25E67}" type="presParOf" srcId="{D7E48B5D-C196-B44E-8BE8-848E09BEB976}" destId="{53649CA3-4481-2E43-9452-847A3D73FB5E}" srcOrd="0" destOrd="0" presId="urn:microsoft.com/office/officeart/2005/8/layout/equation2"/>
    <dgm:cxn modelId="{996DB274-9446-8544-AD2D-77B89BCE419F}" type="presParOf" srcId="{D7E48B5D-C196-B44E-8BE8-848E09BEB976}" destId="{14619D6F-5128-FA43-BB54-B2AD3902F95D}" srcOrd="1" destOrd="0" presId="urn:microsoft.com/office/officeart/2005/8/layout/equation2"/>
    <dgm:cxn modelId="{45ED2251-4C50-9147-A94C-6599090909C5}" type="presParOf" srcId="{D7E48B5D-C196-B44E-8BE8-848E09BEB976}" destId="{289DA331-CC83-A14A-BC2D-86AFAC6D1691}" srcOrd="2" destOrd="0" presId="urn:microsoft.com/office/officeart/2005/8/layout/equation2"/>
    <dgm:cxn modelId="{6B75007C-54E6-1F43-9CB8-EF98DF6C9FB6}" type="presParOf" srcId="{D7E48B5D-C196-B44E-8BE8-848E09BEB976}" destId="{9D1F6605-49BC-574C-9CF3-783579EACAA4}" srcOrd="3" destOrd="0" presId="urn:microsoft.com/office/officeart/2005/8/layout/equation2"/>
    <dgm:cxn modelId="{5920AAFB-99B7-9440-88BC-AA78D996FC71}" type="presParOf" srcId="{D7E48B5D-C196-B44E-8BE8-848E09BEB976}" destId="{43808812-807E-7344-94F7-22D0334CB05E}" srcOrd="4" destOrd="0" presId="urn:microsoft.com/office/officeart/2005/8/layout/equation2"/>
    <dgm:cxn modelId="{2CCD98EF-048C-3441-8EBC-029944C72467}" type="presParOf" srcId="{BCE18CDA-F4EE-0F41-B909-275DBC297562}" destId="{D869CF25-877B-714D-B54F-CE3D30C0E987}" srcOrd="1" destOrd="0" presId="urn:microsoft.com/office/officeart/2005/8/layout/equation2"/>
    <dgm:cxn modelId="{79B8CC05-A9FD-0D41-956F-042172516478}" type="presParOf" srcId="{D869CF25-877B-714D-B54F-CE3D30C0E987}" destId="{B1D5D7E0-16AE-0E4E-93F5-68C7C0B0D3AB}" srcOrd="0" destOrd="0" presId="urn:microsoft.com/office/officeart/2005/8/layout/equation2"/>
    <dgm:cxn modelId="{CD19E42C-B27B-CE48-BA62-D43E83D556F8}" type="presParOf" srcId="{BCE18CDA-F4EE-0F41-B909-275DBC297562}" destId="{C464A1DB-12D6-ED4E-A403-47C25B4E6DD3}"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B74A83-2575-7C48-96AD-58242BF33775}">
      <dsp:nvSpPr>
        <dsp:cNvPr id="0" name=""/>
        <dsp:cNvSpPr/>
      </dsp:nvSpPr>
      <dsp:spPr>
        <a:xfrm>
          <a:off x="2359936" y="2062214"/>
          <a:ext cx="1757261" cy="1757261"/>
        </a:xfrm>
        <a:prstGeom prst="ellipse">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en-US" sz="2600" kern="1200" dirty="0" smtClean="0"/>
            <a:t>Reports</a:t>
          </a:r>
          <a:endParaRPr lang="en-US" sz="2600" kern="1200" dirty="0"/>
        </a:p>
      </dsp:txBody>
      <dsp:txXfrm>
        <a:off x="2617281" y="2319559"/>
        <a:ext cx="1242571" cy="1242571"/>
      </dsp:txXfrm>
    </dsp:sp>
    <dsp:sp modelId="{6F79ABF7-E062-F94D-A3C2-EA12B8D5B390}">
      <dsp:nvSpPr>
        <dsp:cNvPr id="0" name=""/>
        <dsp:cNvSpPr/>
      </dsp:nvSpPr>
      <dsp:spPr>
        <a:xfrm rot="12900000">
          <a:off x="1172501" y="1736167"/>
          <a:ext cx="1406457" cy="500819"/>
        </a:xfrm>
        <a:prstGeom prst="leftArrow">
          <a:avLst>
            <a:gd name="adj1" fmla="val 60000"/>
            <a:gd name="adj2" fmla="val 50000"/>
          </a:avLst>
        </a:prstGeom>
        <a:gradFill rotWithShape="0">
          <a:gsLst>
            <a:gs pos="0">
              <a:schemeClr val="accent1">
                <a:tint val="60000"/>
                <a:hueOff val="0"/>
                <a:satOff val="0"/>
                <a:lumOff val="0"/>
                <a:alphaOff val="0"/>
                <a:shade val="70000"/>
                <a:satMod val="120000"/>
              </a:schemeClr>
            </a:gs>
            <a:gs pos="35000">
              <a:schemeClr val="accent1">
                <a:tint val="60000"/>
                <a:hueOff val="0"/>
                <a:satOff val="0"/>
                <a:lumOff val="0"/>
                <a:alphaOff val="0"/>
                <a:shade val="100000"/>
                <a:satMod val="150000"/>
              </a:schemeClr>
            </a:gs>
            <a:gs pos="70000">
              <a:schemeClr val="accent1">
                <a:tint val="60000"/>
                <a:hueOff val="0"/>
                <a:satOff val="0"/>
                <a:lumOff val="0"/>
                <a:alphaOff val="0"/>
                <a:tint val="100000"/>
                <a:shade val="100000"/>
                <a:satMod val="200000"/>
                <a:greenMod val="100000"/>
              </a:schemeClr>
            </a:gs>
            <a:gs pos="100000">
              <a:schemeClr val="accent1">
                <a:tint val="60000"/>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sp>
    <dsp:sp modelId="{9E94D71F-4D10-BC40-A4E5-12459011F189}">
      <dsp:nvSpPr>
        <dsp:cNvPr id="0" name=""/>
        <dsp:cNvSpPr/>
      </dsp:nvSpPr>
      <dsp:spPr>
        <a:xfrm>
          <a:off x="464979" y="1180001"/>
          <a:ext cx="1669398" cy="806439"/>
        </a:xfrm>
        <a:prstGeom prst="roundRect">
          <a:avLst>
            <a:gd name="adj" fmla="val 10000"/>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n-US" sz="3200" kern="1200" dirty="0" smtClean="0"/>
            <a:t>Phase1</a:t>
          </a:r>
          <a:endParaRPr lang="en-US" sz="3200" kern="1200" dirty="0"/>
        </a:p>
      </dsp:txBody>
      <dsp:txXfrm>
        <a:off x="488599" y="1203621"/>
        <a:ext cx="1622158" cy="759199"/>
      </dsp:txXfrm>
    </dsp:sp>
    <dsp:sp modelId="{1853D267-1827-D24F-8E7F-16A7EBFBD6AF}">
      <dsp:nvSpPr>
        <dsp:cNvPr id="0" name=""/>
        <dsp:cNvSpPr/>
      </dsp:nvSpPr>
      <dsp:spPr>
        <a:xfrm rot="16200000">
          <a:off x="2535338" y="1026719"/>
          <a:ext cx="1406457" cy="500819"/>
        </a:xfrm>
        <a:prstGeom prst="leftArrow">
          <a:avLst>
            <a:gd name="adj1" fmla="val 60000"/>
            <a:gd name="adj2" fmla="val 50000"/>
          </a:avLst>
        </a:prstGeom>
        <a:gradFill rotWithShape="0">
          <a:gsLst>
            <a:gs pos="0">
              <a:schemeClr val="accent1">
                <a:tint val="60000"/>
                <a:hueOff val="0"/>
                <a:satOff val="0"/>
                <a:lumOff val="0"/>
                <a:alphaOff val="0"/>
                <a:shade val="70000"/>
                <a:satMod val="120000"/>
              </a:schemeClr>
            </a:gs>
            <a:gs pos="35000">
              <a:schemeClr val="accent1">
                <a:tint val="60000"/>
                <a:hueOff val="0"/>
                <a:satOff val="0"/>
                <a:lumOff val="0"/>
                <a:alphaOff val="0"/>
                <a:shade val="100000"/>
                <a:satMod val="150000"/>
              </a:schemeClr>
            </a:gs>
            <a:gs pos="70000">
              <a:schemeClr val="accent1">
                <a:tint val="60000"/>
                <a:hueOff val="0"/>
                <a:satOff val="0"/>
                <a:lumOff val="0"/>
                <a:alphaOff val="0"/>
                <a:tint val="100000"/>
                <a:shade val="100000"/>
                <a:satMod val="200000"/>
                <a:greenMod val="100000"/>
              </a:schemeClr>
            </a:gs>
            <a:gs pos="100000">
              <a:schemeClr val="accent1">
                <a:tint val="60000"/>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sp>
    <dsp:sp modelId="{48A3B9C4-B8AC-FA44-975A-E080677A9AA5}">
      <dsp:nvSpPr>
        <dsp:cNvPr id="0" name=""/>
        <dsp:cNvSpPr/>
      </dsp:nvSpPr>
      <dsp:spPr>
        <a:xfrm>
          <a:off x="2184892" y="96886"/>
          <a:ext cx="2107348" cy="954027"/>
        </a:xfrm>
        <a:prstGeom prst="roundRect">
          <a:avLst>
            <a:gd name="adj" fmla="val 10000"/>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n-US" sz="3200" kern="1200" dirty="0" smtClean="0"/>
            <a:t>Phase 2</a:t>
          </a:r>
          <a:endParaRPr lang="en-US" sz="3200" kern="1200" dirty="0"/>
        </a:p>
      </dsp:txBody>
      <dsp:txXfrm>
        <a:off x="2212834" y="124828"/>
        <a:ext cx="2051464" cy="898143"/>
      </dsp:txXfrm>
    </dsp:sp>
    <dsp:sp modelId="{384C8A25-E0A0-D648-943A-5B85086BC7C2}">
      <dsp:nvSpPr>
        <dsp:cNvPr id="0" name=""/>
        <dsp:cNvSpPr/>
      </dsp:nvSpPr>
      <dsp:spPr>
        <a:xfrm rot="19680432">
          <a:off x="3941447" y="1754310"/>
          <a:ext cx="1591303" cy="500819"/>
        </a:xfrm>
        <a:prstGeom prst="leftArrow">
          <a:avLst>
            <a:gd name="adj1" fmla="val 60000"/>
            <a:gd name="adj2" fmla="val 50000"/>
          </a:avLst>
        </a:prstGeom>
        <a:gradFill rotWithShape="0">
          <a:gsLst>
            <a:gs pos="0">
              <a:schemeClr val="accent1">
                <a:tint val="60000"/>
                <a:hueOff val="0"/>
                <a:satOff val="0"/>
                <a:lumOff val="0"/>
                <a:alphaOff val="0"/>
                <a:shade val="70000"/>
                <a:satMod val="120000"/>
              </a:schemeClr>
            </a:gs>
            <a:gs pos="35000">
              <a:schemeClr val="accent1">
                <a:tint val="60000"/>
                <a:hueOff val="0"/>
                <a:satOff val="0"/>
                <a:lumOff val="0"/>
                <a:alphaOff val="0"/>
                <a:shade val="100000"/>
                <a:satMod val="150000"/>
              </a:schemeClr>
            </a:gs>
            <a:gs pos="70000">
              <a:schemeClr val="accent1">
                <a:tint val="60000"/>
                <a:hueOff val="0"/>
                <a:satOff val="0"/>
                <a:lumOff val="0"/>
                <a:alphaOff val="0"/>
                <a:tint val="100000"/>
                <a:shade val="100000"/>
                <a:satMod val="200000"/>
                <a:greenMod val="100000"/>
              </a:schemeClr>
            </a:gs>
            <a:gs pos="100000">
              <a:schemeClr val="accent1">
                <a:tint val="60000"/>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sp>
    <dsp:sp modelId="{EB18395C-D61F-1F48-8BCD-4E0361170DD9}">
      <dsp:nvSpPr>
        <dsp:cNvPr id="0" name=""/>
        <dsp:cNvSpPr/>
      </dsp:nvSpPr>
      <dsp:spPr>
        <a:xfrm>
          <a:off x="4545960" y="1070408"/>
          <a:ext cx="1731884" cy="1025531"/>
        </a:xfrm>
        <a:prstGeom prst="roundRect">
          <a:avLst>
            <a:gd name="adj" fmla="val 10000"/>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1422400">
            <a:lnSpc>
              <a:spcPct val="90000"/>
            </a:lnSpc>
            <a:spcBef>
              <a:spcPct val="0"/>
            </a:spcBef>
            <a:spcAft>
              <a:spcPct val="35000"/>
            </a:spcAft>
          </a:pPr>
          <a:r>
            <a:rPr lang="en-US" sz="3200" kern="1200" dirty="0" smtClean="0"/>
            <a:t>Phase 3</a:t>
          </a:r>
          <a:endParaRPr lang="en-US" sz="3200" kern="1200" dirty="0"/>
        </a:p>
      </dsp:txBody>
      <dsp:txXfrm>
        <a:off x="4575997" y="1100445"/>
        <a:ext cx="1671810" cy="9654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49CA3-4481-2E43-9452-847A3D73FB5E}">
      <dsp:nvSpPr>
        <dsp:cNvPr id="0" name=""/>
        <dsp:cNvSpPr/>
      </dsp:nvSpPr>
      <dsp:spPr>
        <a:xfrm>
          <a:off x="3510" y="147514"/>
          <a:ext cx="1246246" cy="1246246"/>
        </a:xfrm>
        <a:prstGeom prst="ellipse">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Results</a:t>
          </a:r>
          <a:endParaRPr lang="en-US" sz="2000" kern="1200" dirty="0"/>
        </a:p>
      </dsp:txBody>
      <dsp:txXfrm>
        <a:off x="186019" y="330023"/>
        <a:ext cx="881228" cy="881228"/>
      </dsp:txXfrm>
    </dsp:sp>
    <dsp:sp modelId="{289DA331-CC83-A14A-BC2D-86AFAC6D1691}">
      <dsp:nvSpPr>
        <dsp:cNvPr id="0" name=""/>
        <dsp:cNvSpPr/>
      </dsp:nvSpPr>
      <dsp:spPr>
        <a:xfrm>
          <a:off x="265222" y="1494955"/>
          <a:ext cx="722822" cy="722822"/>
        </a:xfrm>
        <a:prstGeom prst="mathPlus">
          <a:avLst/>
        </a:prstGeom>
        <a:gradFill rotWithShape="0">
          <a:gsLst>
            <a:gs pos="0">
              <a:schemeClr val="accent1">
                <a:tint val="60000"/>
                <a:hueOff val="0"/>
                <a:satOff val="0"/>
                <a:lumOff val="0"/>
                <a:alphaOff val="0"/>
                <a:shade val="70000"/>
                <a:satMod val="120000"/>
              </a:schemeClr>
            </a:gs>
            <a:gs pos="35000">
              <a:schemeClr val="accent1">
                <a:tint val="60000"/>
                <a:hueOff val="0"/>
                <a:satOff val="0"/>
                <a:lumOff val="0"/>
                <a:alphaOff val="0"/>
                <a:shade val="100000"/>
                <a:satMod val="150000"/>
              </a:schemeClr>
            </a:gs>
            <a:gs pos="70000">
              <a:schemeClr val="accent1">
                <a:tint val="60000"/>
                <a:hueOff val="0"/>
                <a:satOff val="0"/>
                <a:lumOff val="0"/>
                <a:alphaOff val="0"/>
                <a:tint val="100000"/>
                <a:shade val="100000"/>
                <a:satMod val="200000"/>
                <a:greenMod val="100000"/>
              </a:schemeClr>
            </a:gs>
            <a:gs pos="100000">
              <a:schemeClr val="accent1">
                <a:tint val="60000"/>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361032" y="1771362"/>
        <a:ext cx="531202" cy="170008"/>
      </dsp:txXfrm>
    </dsp:sp>
    <dsp:sp modelId="{43808812-807E-7344-94F7-22D0334CB05E}">
      <dsp:nvSpPr>
        <dsp:cNvPr id="0" name=""/>
        <dsp:cNvSpPr/>
      </dsp:nvSpPr>
      <dsp:spPr>
        <a:xfrm>
          <a:off x="3510" y="2318973"/>
          <a:ext cx="1246246" cy="1246246"/>
        </a:xfrm>
        <a:prstGeom prst="ellipse">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Survey data</a:t>
          </a:r>
          <a:endParaRPr lang="en-US" sz="2000" kern="1200" dirty="0"/>
        </a:p>
      </dsp:txBody>
      <dsp:txXfrm>
        <a:off x="186019" y="2501482"/>
        <a:ext cx="881228" cy="881228"/>
      </dsp:txXfrm>
    </dsp:sp>
    <dsp:sp modelId="{D869CF25-877B-714D-B54F-CE3D30C0E987}">
      <dsp:nvSpPr>
        <dsp:cNvPr id="0" name=""/>
        <dsp:cNvSpPr/>
      </dsp:nvSpPr>
      <dsp:spPr>
        <a:xfrm rot="21599458">
          <a:off x="1374785" y="1624426"/>
          <a:ext cx="265061" cy="463603"/>
        </a:xfrm>
        <a:prstGeom prst="rightArrow">
          <a:avLst>
            <a:gd name="adj1" fmla="val 60000"/>
            <a:gd name="adj2" fmla="val 50000"/>
          </a:avLst>
        </a:prstGeom>
        <a:gradFill rotWithShape="0">
          <a:gsLst>
            <a:gs pos="0">
              <a:schemeClr val="accent1">
                <a:tint val="60000"/>
                <a:hueOff val="0"/>
                <a:satOff val="0"/>
                <a:lumOff val="0"/>
                <a:alphaOff val="0"/>
                <a:shade val="70000"/>
                <a:satMod val="120000"/>
              </a:schemeClr>
            </a:gs>
            <a:gs pos="35000">
              <a:schemeClr val="accent1">
                <a:tint val="60000"/>
                <a:hueOff val="0"/>
                <a:satOff val="0"/>
                <a:lumOff val="0"/>
                <a:alphaOff val="0"/>
                <a:shade val="100000"/>
                <a:satMod val="150000"/>
              </a:schemeClr>
            </a:gs>
            <a:gs pos="70000">
              <a:schemeClr val="accent1">
                <a:tint val="60000"/>
                <a:hueOff val="0"/>
                <a:satOff val="0"/>
                <a:lumOff val="0"/>
                <a:alphaOff val="0"/>
                <a:tint val="100000"/>
                <a:shade val="100000"/>
                <a:satMod val="200000"/>
                <a:greenMod val="100000"/>
              </a:schemeClr>
            </a:gs>
            <a:gs pos="100000">
              <a:schemeClr val="accent1">
                <a:tint val="60000"/>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US" sz="1600" kern="1200"/>
        </a:p>
      </dsp:txBody>
      <dsp:txXfrm>
        <a:off x="1374785" y="1717153"/>
        <a:ext cx="185543" cy="278161"/>
      </dsp:txXfrm>
    </dsp:sp>
    <dsp:sp modelId="{C464A1DB-12D6-ED4E-A403-47C25B4E6DD3}">
      <dsp:nvSpPr>
        <dsp:cNvPr id="0" name=""/>
        <dsp:cNvSpPr/>
      </dsp:nvSpPr>
      <dsp:spPr>
        <a:xfrm>
          <a:off x="1749872" y="609747"/>
          <a:ext cx="2492492" cy="2492492"/>
        </a:xfrm>
        <a:prstGeom prst="ellipse">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dirty="0" smtClean="0"/>
            <a:t>Correlation</a:t>
          </a:r>
        </a:p>
      </dsp:txBody>
      <dsp:txXfrm>
        <a:off x="2114889" y="974764"/>
        <a:ext cx="1762458" cy="1762458"/>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1D06C3-8EC6-004B-9244-A7CF29F80D7F}" type="datetimeFigureOut">
              <a:rPr lang="en-US" smtClean="0"/>
              <a:t>4/18/16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A864CE-C33C-C641-B4BE-7EF3F4D9FC47}" type="slidenum">
              <a:rPr lang="en-US" smtClean="0"/>
              <a:t>‹#›</a:t>
            </a:fld>
            <a:endParaRPr lang="en-US"/>
          </a:p>
        </p:txBody>
      </p:sp>
    </p:spTree>
    <p:extLst>
      <p:ext uri="{BB962C8B-B14F-4D97-AF65-F5344CB8AC3E}">
        <p14:creationId xmlns:p14="http://schemas.microsoft.com/office/powerpoint/2010/main" val="351805145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A864CE-C33C-C641-B4BE-7EF3F4D9FC47}" type="slidenum">
              <a:rPr lang="en-US" smtClean="0"/>
              <a:t>4</a:t>
            </a:fld>
            <a:endParaRPr lang="en-US"/>
          </a:p>
        </p:txBody>
      </p:sp>
    </p:spTree>
    <p:extLst>
      <p:ext uri="{BB962C8B-B14F-4D97-AF65-F5344CB8AC3E}">
        <p14:creationId xmlns:p14="http://schemas.microsoft.com/office/powerpoint/2010/main" val="3542816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This grammar has as its terminal symbols the characters of the Unicode character set. It defines a set of productions, starting from the goal symbol Input, that describe how sequences of Unicode characters are translated into a sequence of input elements.</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These input elements, with white space and comments discarded, form the terminal symbols for the syntactic grammar for the Java programming language and are called tokens. These tokens are the identifiers, keywords, literals, separators, and operators of the Java programming language.</a:t>
            </a:r>
            <a:endParaRPr lang="en-US" u="none" dirty="0">
              <a:solidFill>
                <a:srgbClr val="000000"/>
              </a:solidFill>
            </a:endParaRPr>
          </a:p>
        </p:txBody>
      </p:sp>
      <p:sp>
        <p:nvSpPr>
          <p:cNvPr id="4" name="Slide Number Placeholder 3"/>
          <p:cNvSpPr>
            <a:spLocks noGrp="1"/>
          </p:cNvSpPr>
          <p:nvPr>
            <p:ph type="sldNum" sz="quarter" idx="10"/>
          </p:nvPr>
        </p:nvSpPr>
        <p:spPr/>
        <p:txBody>
          <a:bodyPr/>
          <a:lstStyle/>
          <a:p>
            <a:fld id="{4DA864CE-C33C-C641-B4BE-7EF3F4D9FC47}" type="slidenum">
              <a:rPr lang="en-US" smtClean="0"/>
              <a:t>5</a:t>
            </a:fld>
            <a:endParaRPr lang="en-US"/>
          </a:p>
        </p:txBody>
      </p:sp>
    </p:spTree>
    <p:extLst>
      <p:ext uri="{BB962C8B-B14F-4D97-AF65-F5344CB8AC3E}">
        <p14:creationId xmlns:p14="http://schemas.microsoft.com/office/powerpoint/2010/main" val="2796067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One algorithm or measure system, to evaluate the readability of a class,</a:t>
            </a:r>
            <a:r>
              <a:rPr lang="en-US" baseline="0" dirty="0" smtClean="0"/>
              <a:t> everything else is the approach</a:t>
            </a:r>
          </a:p>
          <a:p>
            <a:r>
              <a:rPr lang="en-US" baseline="0" dirty="0" smtClean="0"/>
              <a:t>Approach:</a:t>
            </a:r>
          </a:p>
          <a:p>
            <a:pPr marL="171450" indent="-171450">
              <a:buFontTx/>
              <a:buChar char="•"/>
            </a:pPr>
            <a:r>
              <a:rPr lang="en-US" dirty="0" smtClean="0"/>
              <a:t>1 Method body</a:t>
            </a:r>
          </a:p>
          <a:p>
            <a:pPr marL="171450" indent="-171450">
              <a:buFontTx/>
              <a:buChar char="•"/>
            </a:pPr>
            <a:r>
              <a:rPr lang="en-US" dirty="0" smtClean="0"/>
              <a:t>multiple methods and how its works together</a:t>
            </a:r>
          </a:p>
          <a:p>
            <a:pPr marL="171450" indent="-171450">
              <a:buFontTx/>
              <a:buChar char="•"/>
            </a:pPr>
            <a:r>
              <a:rPr lang="en-US" dirty="0" smtClean="0"/>
              <a:t>Example: max(string, </a:t>
            </a:r>
            <a:r>
              <a:rPr lang="en-US" dirty="0" err="1" smtClean="0"/>
              <a:t>int</a:t>
            </a:r>
            <a:r>
              <a:rPr lang="en-US" dirty="0" smtClean="0"/>
              <a:t>, etc.) integrate with body and name together</a:t>
            </a:r>
          </a:p>
          <a:p>
            <a:pPr marL="171450" indent="-171450">
              <a:buFontTx/>
              <a:buChar char="•"/>
            </a:pPr>
            <a:endParaRPr lang="en-US" dirty="0" smtClean="0"/>
          </a:p>
          <a:p>
            <a:pPr marL="171450" indent="-171450">
              <a:buFontTx/>
              <a:buChar char="•"/>
            </a:pPr>
            <a:r>
              <a:rPr lang="en-US" dirty="0" smtClean="0"/>
              <a:t>Build graph and coding relationship must be represented.</a:t>
            </a:r>
          </a:p>
          <a:p>
            <a:pPr marL="171450" indent="-171450">
              <a:buFontTx/>
              <a:buChar char="•"/>
            </a:pPr>
            <a:endParaRPr lang="en-US" dirty="0" smtClean="0"/>
          </a:p>
          <a:p>
            <a:pPr marL="171450" indent="-171450">
              <a:buFontTx/>
              <a:buChar char="•"/>
            </a:pPr>
            <a:r>
              <a:rPr lang="en-US" dirty="0" smtClean="0"/>
              <a:t>SUREVY: CODE TO STUDENTS AND</a:t>
            </a:r>
            <a:r>
              <a:rPr lang="en-US" baseline="0" dirty="0" smtClean="0"/>
              <a:t> ASK SUBJECTIVE </a:t>
            </a:r>
            <a:r>
              <a:rPr lang="en-US" baseline="0" dirty="0" err="1" smtClean="0"/>
              <a:t>OPINion</a:t>
            </a:r>
            <a:r>
              <a:rPr lang="en-US" baseline="0" dirty="0" smtClean="0"/>
              <a:t> OF a code and correlate it with the results of my project</a:t>
            </a:r>
            <a:endParaRPr lang="en-US" dirty="0"/>
          </a:p>
        </p:txBody>
      </p:sp>
      <p:sp>
        <p:nvSpPr>
          <p:cNvPr id="4" name="Slide Number Placeholder 3"/>
          <p:cNvSpPr>
            <a:spLocks noGrp="1"/>
          </p:cNvSpPr>
          <p:nvPr>
            <p:ph type="sldNum" sz="quarter" idx="10"/>
          </p:nvPr>
        </p:nvSpPr>
        <p:spPr/>
        <p:txBody>
          <a:bodyPr/>
          <a:lstStyle/>
          <a:p>
            <a:fld id="{4DA864CE-C33C-C641-B4BE-7EF3F4D9FC47}" type="slidenum">
              <a:rPr lang="en-US" smtClean="0"/>
              <a:t>6</a:t>
            </a:fld>
            <a:endParaRPr lang="en-US"/>
          </a:p>
        </p:txBody>
      </p:sp>
    </p:spTree>
    <p:extLst>
      <p:ext uri="{BB962C8B-B14F-4D97-AF65-F5344CB8AC3E}">
        <p14:creationId xmlns:p14="http://schemas.microsoft.com/office/powerpoint/2010/main" val="1236668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A864CE-C33C-C641-B4BE-7EF3F4D9FC47}" type="slidenum">
              <a:rPr lang="en-US" smtClean="0"/>
              <a:t>7</a:t>
            </a:fld>
            <a:endParaRPr lang="en-US"/>
          </a:p>
        </p:txBody>
      </p:sp>
    </p:spTree>
    <p:extLst>
      <p:ext uri="{BB962C8B-B14F-4D97-AF65-F5344CB8AC3E}">
        <p14:creationId xmlns:p14="http://schemas.microsoft.com/office/powerpoint/2010/main" val="915738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A864CE-C33C-C641-B4BE-7EF3F4D9FC47}" type="slidenum">
              <a:rPr lang="en-US" smtClean="0"/>
              <a:t>12</a:t>
            </a:fld>
            <a:endParaRPr lang="en-US"/>
          </a:p>
        </p:txBody>
      </p:sp>
    </p:spTree>
    <p:extLst>
      <p:ext uri="{BB962C8B-B14F-4D97-AF65-F5344CB8AC3E}">
        <p14:creationId xmlns:p14="http://schemas.microsoft.com/office/powerpoint/2010/main" val="3830687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Survey</a:t>
            </a:r>
            <a:r>
              <a:rPr lang="en-US" baseline="0" dirty="0" smtClean="0"/>
              <a:t> data: code given to students and asked them about subjective opinion:</a:t>
            </a:r>
            <a:endParaRPr lang="en-US" dirty="0"/>
          </a:p>
        </p:txBody>
      </p:sp>
      <p:sp>
        <p:nvSpPr>
          <p:cNvPr id="4" name="Slide Number Placeholder 3"/>
          <p:cNvSpPr>
            <a:spLocks noGrp="1"/>
          </p:cNvSpPr>
          <p:nvPr>
            <p:ph type="sldNum" sz="quarter" idx="10"/>
          </p:nvPr>
        </p:nvSpPr>
        <p:spPr/>
        <p:txBody>
          <a:bodyPr/>
          <a:lstStyle/>
          <a:p>
            <a:fld id="{4DA864CE-C33C-C641-B4BE-7EF3F4D9FC47}" type="slidenum">
              <a:rPr lang="en-US" smtClean="0"/>
              <a:t>21</a:t>
            </a:fld>
            <a:endParaRPr lang="en-US"/>
          </a:p>
        </p:txBody>
      </p:sp>
    </p:spTree>
    <p:extLst>
      <p:ext uri="{BB962C8B-B14F-4D97-AF65-F5344CB8AC3E}">
        <p14:creationId xmlns:p14="http://schemas.microsoft.com/office/powerpoint/2010/main" val="87143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smtClean="0"/>
              <a:t>Develop algorithm/measurement and lots of data: where is the data coming from, couple slides explaining that. </a:t>
            </a:r>
          </a:p>
          <a:p>
            <a:pPr marL="171450" indent="-171450">
              <a:buFontTx/>
              <a:buChar char="•"/>
            </a:pPr>
            <a:r>
              <a:rPr lang="en-US" dirty="0" smtClean="0"/>
              <a:t>Calculate the collected data from dr. </a:t>
            </a:r>
            <a:r>
              <a:rPr lang="en-US" dirty="0" err="1" smtClean="0"/>
              <a:t>xu</a:t>
            </a:r>
            <a:r>
              <a:rPr lang="en-US" dirty="0" smtClean="0"/>
              <a:t> (data set)</a:t>
            </a:r>
          </a:p>
          <a:p>
            <a:pPr marL="171450" indent="-171450">
              <a:buFontTx/>
              <a:buChar char="•"/>
            </a:pPr>
            <a:r>
              <a:rPr lang="en-US" dirty="0" smtClean="0"/>
              <a:t>Provide</a:t>
            </a:r>
            <a:r>
              <a:rPr lang="en-US" baseline="0" dirty="0" smtClean="0"/>
              <a:t> the testing and calculate the correlation</a:t>
            </a:r>
          </a:p>
          <a:p>
            <a:pPr marL="171450" indent="-171450">
              <a:buFontTx/>
              <a:buChar char="•"/>
            </a:pPr>
            <a:r>
              <a:rPr lang="en-US" baseline="0" dirty="0" smtClean="0"/>
              <a:t>Evaluate the potential factor that affects this correlation.</a:t>
            </a:r>
          </a:p>
          <a:p>
            <a:pPr marL="171450" indent="-171450">
              <a:buFontTx/>
              <a:buChar char="•"/>
            </a:pPr>
            <a:endParaRPr lang="en-US" baseline="0" dirty="0" smtClean="0"/>
          </a:p>
          <a:p>
            <a:pPr marL="171450" indent="-171450">
              <a:buFontTx/>
              <a:buChar char="•"/>
            </a:pPr>
            <a:r>
              <a:rPr lang="en-US" baseline="0" dirty="0" err="1" smtClean="0"/>
              <a:t>Demostrate</a:t>
            </a:r>
            <a:r>
              <a:rPr lang="en-US" baseline="0" dirty="0" smtClean="0"/>
              <a:t> the correlation b/w objective data and subjective data. High (but how high percentages, more than 50%) </a:t>
            </a:r>
            <a:endParaRPr lang="en-US" dirty="0" smtClean="0"/>
          </a:p>
        </p:txBody>
      </p:sp>
      <p:sp>
        <p:nvSpPr>
          <p:cNvPr id="4" name="Slide Number Placeholder 3"/>
          <p:cNvSpPr>
            <a:spLocks noGrp="1"/>
          </p:cNvSpPr>
          <p:nvPr>
            <p:ph type="sldNum" sz="quarter" idx="10"/>
          </p:nvPr>
        </p:nvSpPr>
        <p:spPr/>
        <p:txBody>
          <a:bodyPr/>
          <a:lstStyle/>
          <a:p>
            <a:fld id="{4DA864CE-C33C-C641-B4BE-7EF3F4D9FC47}" type="slidenum">
              <a:rPr lang="en-US" smtClean="0"/>
              <a:t>22</a:t>
            </a:fld>
            <a:endParaRPr lang="en-US"/>
          </a:p>
        </p:txBody>
      </p:sp>
    </p:spTree>
    <p:extLst>
      <p:ext uri="{BB962C8B-B14F-4D97-AF65-F5344CB8AC3E}">
        <p14:creationId xmlns:p14="http://schemas.microsoft.com/office/powerpoint/2010/main" val="1371657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A864CE-C33C-C641-B4BE-7EF3F4D9FC47}" type="slidenum">
              <a:rPr lang="en-US" smtClean="0"/>
              <a:t>23</a:t>
            </a:fld>
            <a:endParaRPr lang="en-US"/>
          </a:p>
        </p:txBody>
      </p:sp>
    </p:spTree>
    <p:extLst>
      <p:ext uri="{BB962C8B-B14F-4D97-AF65-F5344CB8AC3E}">
        <p14:creationId xmlns:p14="http://schemas.microsoft.com/office/powerpoint/2010/main" val="790055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A864CE-C33C-C641-B4BE-7EF3F4D9FC47}" type="slidenum">
              <a:rPr lang="en-US" smtClean="0"/>
              <a:t>25</a:t>
            </a:fld>
            <a:endParaRPr lang="en-US"/>
          </a:p>
        </p:txBody>
      </p:sp>
    </p:spTree>
    <p:extLst>
      <p:ext uri="{BB962C8B-B14F-4D97-AF65-F5344CB8AC3E}">
        <p14:creationId xmlns:p14="http://schemas.microsoft.com/office/powerpoint/2010/main" val="3048572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86953" y="268288"/>
            <a:ext cx="566928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400" y="4208929"/>
            <a:ext cx="5458968"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3200400" y="5257800"/>
            <a:ext cx="5458968"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a:xfrm>
            <a:off x="3276600" y="390525"/>
            <a:ext cx="5504688"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B1A24CD3-204F-4468-8EE4-28A6668D006A}" type="datetimeFigureOut">
              <a:rPr lang="en-US" smtClean="0"/>
              <a:t>4/18/16</a:t>
            </a:fld>
            <a:endParaRPr lang="en-US"/>
          </a:p>
        </p:txBody>
      </p:sp>
      <p:sp>
        <p:nvSpPr>
          <p:cNvPr id="5" name="Footer Placeholder 4"/>
          <p:cNvSpPr>
            <a:spLocks noGrp="1"/>
          </p:cNvSpPr>
          <p:nvPr>
            <p:ph type="ftr" sz="quarter" idx="11"/>
          </p:nvPr>
        </p:nvSpPr>
        <p:spPr>
          <a:xfrm>
            <a:off x="3218688" y="6356350"/>
            <a:ext cx="4736592"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8256494"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t>4/18/16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3186953" y="268288"/>
            <a:ext cx="566928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399" y="4171950"/>
            <a:ext cx="5457919" cy="1085850"/>
          </a:xfrm>
        </p:spPr>
        <p:txBody>
          <a:bodyPr>
            <a:normAutofit/>
          </a:bodyPr>
          <a:lstStyle>
            <a:lvl1pPr>
              <a:defRPr sz="4600"/>
            </a:lvl1pPr>
          </a:lstStyle>
          <a:p>
            <a:r>
              <a:rPr lang="en-US" smtClean="0"/>
              <a:t>Click to edit Master title style</a:t>
            </a:r>
            <a:endParaRPr/>
          </a:p>
        </p:txBody>
      </p:sp>
      <p:sp>
        <p:nvSpPr>
          <p:cNvPr id="3" name="Subtitle 2"/>
          <p:cNvSpPr>
            <a:spLocks noGrp="1"/>
          </p:cNvSpPr>
          <p:nvPr>
            <p:ph type="subTitle" idx="1"/>
          </p:nvPr>
        </p:nvSpPr>
        <p:spPr>
          <a:xfrm>
            <a:off x="3200401" y="5257799"/>
            <a:ext cx="5457918"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a:xfrm>
            <a:off x="3276600" y="389965"/>
            <a:ext cx="5499847" cy="365125"/>
          </a:xfrm>
        </p:spPr>
        <p:txBody>
          <a:bodyPr/>
          <a:lstStyle>
            <a:lvl1pPr>
              <a:defRPr sz="2200" b="0" baseline="0">
                <a:solidFill>
                  <a:schemeClr val="bg1"/>
                </a:solidFill>
              </a:defRPr>
            </a:lvl1pPr>
          </a:lstStyle>
          <a:p>
            <a:fld id="{B1A24CD3-204F-4468-8EE4-28A6668D006A}" type="datetimeFigureOut">
              <a:rPr lang="en-US" smtClean="0"/>
              <a:t>4/18/16</a:t>
            </a:fld>
            <a:endParaRPr lang="en-US"/>
          </a:p>
        </p:txBody>
      </p:sp>
      <p:sp>
        <p:nvSpPr>
          <p:cNvPr id="5" name="Footer Placeholder 4"/>
          <p:cNvSpPr>
            <a:spLocks noGrp="1"/>
          </p:cNvSpPr>
          <p:nvPr>
            <p:ph type="ftr" sz="quarter" idx="11"/>
          </p:nvPr>
        </p:nvSpPr>
        <p:spPr>
          <a:xfrm>
            <a:off x="3213847" y="6356350"/>
            <a:ext cx="4734112" cy="365125"/>
          </a:xfrm>
        </p:spPr>
        <p:txBody>
          <a:bodyPr/>
          <a:lstStyle/>
          <a:p>
            <a:endParaRPr lang="en-US"/>
          </a:p>
        </p:txBody>
      </p:sp>
      <p:sp>
        <p:nvSpPr>
          <p:cNvPr id="6" name="Slide Number Placeholder 5"/>
          <p:cNvSpPr>
            <a:spLocks noGrp="1"/>
          </p:cNvSpPr>
          <p:nvPr>
            <p:ph type="sldNum" sz="quarter" idx="12"/>
          </p:nvPr>
        </p:nvSpPr>
        <p:spPr>
          <a:xfrm>
            <a:off x="8265459"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3200400" y="2877671"/>
            <a:ext cx="5646867" cy="1280160"/>
          </a:xfrm>
        </p:spPr>
        <p:txBody>
          <a:bodyPr/>
          <a:lstStyle>
            <a:lvl1pPr>
              <a:buNone/>
              <a:defRPr/>
            </a:lvl1pPr>
          </a:lstStyle>
          <a:p>
            <a:r>
              <a:rPr lang="en-US" smtClean="0"/>
              <a:t>Drag picture to placeholder or click icon to add</a:t>
            </a:r>
            <a:endParaRPr/>
          </a:p>
        </p:txBody>
      </p:sp>
      <p:sp>
        <p:nvSpPr>
          <p:cNvPr id="10" name="Rectangle 9"/>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269875"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178423" y="914400"/>
            <a:ext cx="6508377" cy="1143000"/>
          </a:xfrm>
        </p:spPr>
        <p:txBody>
          <a:bodyPr/>
          <a:lstStyle/>
          <a:p>
            <a:r>
              <a:rPr lang="en-US" smtClean="0"/>
              <a:t>Click to edit Master title style</a:t>
            </a:r>
            <a:endParaRPr/>
          </a:p>
        </p:txBody>
      </p:sp>
      <p:sp>
        <p:nvSpPr>
          <p:cNvPr id="3" name="Content Placeholder 2"/>
          <p:cNvSpPr>
            <a:spLocks noGrp="1"/>
          </p:cNvSpPr>
          <p:nvPr>
            <p:ph idx="1"/>
          </p:nvPr>
        </p:nvSpPr>
        <p:spPr>
          <a:xfrm>
            <a:off x="2178423" y="2209800"/>
            <a:ext cx="6508377" cy="3916363"/>
          </a:xfrm>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t>4/18/16</a:t>
            </a:fld>
            <a:endParaRPr lang="en-US"/>
          </a:p>
        </p:txBody>
      </p:sp>
      <p:sp>
        <p:nvSpPr>
          <p:cNvPr id="5" name="Footer Placeholder 4"/>
          <p:cNvSpPr>
            <a:spLocks noGrp="1"/>
          </p:cNvSpPr>
          <p:nvPr>
            <p:ph type="ftr" sz="quarter" idx="11"/>
          </p:nvPr>
        </p:nvSpPr>
        <p:spPr>
          <a:xfrm>
            <a:off x="2178423" y="6356350"/>
            <a:ext cx="4926852" cy="365125"/>
          </a:xfrm>
        </p:spPr>
        <p:txBody>
          <a:bodyPr/>
          <a:lstStyle/>
          <a:p>
            <a:endParaRPr lang="en-US"/>
          </a:p>
        </p:txBody>
      </p:sp>
      <p:sp>
        <p:nvSpPr>
          <p:cNvPr id="6" name="Slide Number Placeholder 5"/>
          <p:cNvSpPr>
            <a:spLocks noGrp="1"/>
          </p:cNvSpPr>
          <p:nvPr>
            <p:ph type="sldNum" sz="quarter" idx="12"/>
          </p:nvPr>
        </p:nvSpPr>
        <p:spPr>
          <a:xfrm>
            <a:off x="331694" y="361016"/>
            <a:ext cx="506506" cy="365125"/>
          </a:xfrm>
        </p:spPr>
        <p:txBody>
          <a:body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269875" y="1976718"/>
            <a:ext cx="1645920" cy="4625788"/>
          </a:xfrm>
        </p:spPr>
        <p:txBody>
          <a:bodyPr/>
          <a:lstStyle>
            <a:lvl1pPr>
              <a:buNone/>
              <a:defRPr/>
            </a:lvl1pPr>
          </a:lstStyle>
          <a:p>
            <a:r>
              <a:rPr lang="en-US" smtClean="0"/>
              <a:t>Drag picture to placeholder or click icon to add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7758952" y="268288"/>
            <a:ext cx="109907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09801" y="3429000"/>
            <a:ext cx="4966446" cy="1398494"/>
          </a:xfrm>
        </p:spPr>
        <p:txBody>
          <a:bodyPr anchor="b" anchorCtr="0"/>
          <a:lstStyle>
            <a:lvl1pPr algn="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2209801"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5562600" y="6356350"/>
            <a:ext cx="1622612" cy="365125"/>
          </a:xfrm>
        </p:spPr>
        <p:txBody>
          <a:bodyPr/>
          <a:lstStyle/>
          <a:p>
            <a:fld id="{B1A24CD3-204F-4468-8EE4-28A6668D006A}" type="datetimeFigureOut">
              <a:rPr lang="en-US" smtClean="0"/>
              <a:t>4/18/16</a:t>
            </a:fld>
            <a:endParaRPr lang="en-US"/>
          </a:p>
        </p:txBody>
      </p:sp>
      <p:sp>
        <p:nvSpPr>
          <p:cNvPr id="5" name="Footer Placeholder 4"/>
          <p:cNvSpPr>
            <a:spLocks noGrp="1"/>
          </p:cNvSpPr>
          <p:nvPr>
            <p:ph type="ftr" sz="quarter" idx="11"/>
          </p:nvPr>
        </p:nvSpPr>
        <p:spPr>
          <a:xfrm>
            <a:off x="174812" y="6356350"/>
            <a:ext cx="5311588" cy="365125"/>
          </a:xfrm>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269875" y="4773706"/>
            <a:ext cx="29718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720354" y="3429001"/>
            <a:ext cx="4966446" cy="1398494"/>
          </a:xfrm>
        </p:spPr>
        <p:txBody>
          <a:bodyPr anchor="b" anchorCtr="0"/>
          <a:lstStyle>
            <a:lvl1pPr algn="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3720354"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6" name="Slide Number Placeholder 5"/>
          <p:cNvSpPr>
            <a:spLocks noGrp="1"/>
          </p:cNvSpPr>
          <p:nvPr>
            <p:ph type="sldNum" sz="quarter" idx="12"/>
          </p:nvPr>
        </p:nvSpPr>
        <p:spPr>
          <a:xfrm>
            <a:off x="351212" y="6104965"/>
            <a:ext cx="506506" cy="365125"/>
          </a:xfrm>
        </p:spPr>
        <p:txBody>
          <a:body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269874" y="268288"/>
            <a:ext cx="2971800" cy="4438650"/>
          </a:xfrm>
        </p:spPr>
        <p:txBody>
          <a:bodyPr/>
          <a:lstStyle>
            <a:lvl1pPr>
              <a:buNone/>
              <a:defRPr/>
            </a:lvl1pPr>
          </a:lstStyle>
          <a:p>
            <a:r>
              <a:rPr lang="en-US" smtClean="0"/>
              <a:t>Drag picture to placeholder or click icon to add</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4/18/16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88352" cy="1143000"/>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B1A24CD3-204F-4468-8EE4-28A6668D006A}" type="datetimeFigureOut">
              <a:rPr lang="en-US" smtClean="0"/>
              <a:t>4/18/16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4/18/16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4/18/16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4/18/16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B1A24CD3-204F-4468-8EE4-28A6668D006A}" type="datetimeFigureOut">
              <a:rPr lang="en-US" smtClean="0"/>
              <a:t>4/18/16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B1A24CD3-204F-4468-8EE4-28A6668D006A}" type="datetimeFigureOut">
              <a:rPr lang="en-US" smtClean="0"/>
              <a:t>4/18/16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en-US" smtClean="0"/>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t>4/18/16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4746811" y="268288"/>
            <a:ext cx="41148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en-US" smtClean="0"/>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161365" y="6124014"/>
            <a:ext cx="1752600" cy="365125"/>
          </a:xfrm>
        </p:spPr>
        <p:txBody>
          <a:bodyPr/>
          <a:lstStyle>
            <a:lvl1pPr algn="l">
              <a:defRPr/>
            </a:lvl1pPr>
          </a:lstStyle>
          <a:p>
            <a:fld id="{B1A24CD3-204F-4468-8EE4-28A6668D006A}" type="datetimeFigureOut">
              <a:rPr lang="en-US" smtClean="0"/>
              <a:t>4/18/16</a:t>
            </a:fld>
            <a:endParaRPr lang="en-US"/>
          </a:p>
        </p:txBody>
      </p:sp>
      <p:sp>
        <p:nvSpPr>
          <p:cNvPr id="6" name="Footer Placeholder 5"/>
          <p:cNvSpPr>
            <a:spLocks noGrp="1"/>
          </p:cNvSpPr>
          <p:nvPr>
            <p:ph type="ftr" sz="quarter" idx="11"/>
          </p:nvPr>
        </p:nvSpPr>
        <p:spPr>
          <a:xfrm>
            <a:off x="174812" y="6356350"/>
            <a:ext cx="3863788" cy="365125"/>
          </a:xfrm>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10" name="Picture Placeholder 9"/>
          <p:cNvSpPr>
            <a:spLocks noGrp="1"/>
          </p:cNvSpPr>
          <p:nvPr>
            <p:ph type="pic" sz="quarter" idx="13"/>
          </p:nvPr>
        </p:nvSpPr>
        <p:spPr>
          <a:xfrm>
            <a:off x="4760258" y="990600"/>
            <a:ext cx="4096512" cy="5611813"/>
          </a:xfrm>
        </p:spPr>
        <p:txBody>
          <a:bodyPr/>
          <a:lstStyle>
            <a:lvl1pPr>
              <a:buNone/>
              <a:defRPr/>
            </a:lvl1pPr>
          </a:lstStyle>
          <a:p>
            <a:r>
              <a:rPr lang="en-US" smtClean="0"/>
              <a:t>Drag picture to placeholder or click icon to add</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7216775" y="268288"/>
            <a:ext cx="1639457"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en-US" smtClean="0"/>
              <a:t>Click to edit Master title style</a:t>
            </a:r>
            <a:endParaRPr/>
          </a:p>
        </p:txBody>
      </p:sp>
      <p:sp>
        <p:nvSpPr>
          <p:cNvPr id="3" name="Picture Placeholder 2"/>
          <p:cNvSpPr>
            <a:spLocks noGrp="1"/>
          </p:cNvSpPr>
          <p:nvPr>
            <p:ph type="pic" idx="1"/>
          </p:nvPr>
        </p:nvSpPr>
        <p:spPr>
          <a:xfrm>
            <a:off x="269874" y="268288"/>
            <a:ext cx="6858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t>4/18/16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8135471" y="268288"/>
            <a:ext cx="720761"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en-US" smtClean="0"/>
              <a:t>Click to edit Master title style</a:t>
            </a:r>
            <a:endParaRPr/>
          </a:p>
        </p:txBody>
      </p:sp>
      <p:sp>
        <p:nvSpPr>
          <p:cNvPr id="3" name="Picture Placeholder 2"/>
          <p:cNvSpPr>
            <a:spLocks noGrp="1"/>
          </p:cNvSpPr>
          <p:nvPr>
            <p:ph type="pic" idx="1"/>
          </p:nvPr>
        </p:nvSpPr>
        <p:spPr>
          <a:xfrm>
            <a:off x="269874" y="268288"/>
            <a:ext cx="3006726"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t>4/18/16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10" name="Picture Placeholder 2"/>
          <p:cNvSpPr>
            <a:spLocks noGrp="1"/>
          </p:cNvSpPr>
          <p:nvPr>
            <p:ph type="pic" idx="13"/>
          </p:nvPr>
        </p:nvSpPr>
        <p:spPr>
          <a:xfrm>
            <a:off x="3352800" y="268288"/>
            <a:ext cx="47019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11" name="Picture Placeholder 2"/>
          <p:cNvSpPr>
            <a:spLocks noGrp="1"/>
          </p:cNvSpPr>
          <p:nvPr>
            <p:ph type="pic" idx="14"/>
          </p:nvPr>
        </p:nvSpPr>
        <p:spPr>
          <a:xfrm>
            <a:off x="33528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12" name="Picture Placeholder 2"/>
          <p:cNvSpPr>
            <a:spLocks noGrp="1"/>
          </p:cNvSpPr>
          <p:nvPr>
            <p:ph type="pic" idx="15"/>
          </p:nvPr>
        </p:nvSpPr>
        <p:spPr>
          <a:xfrm>
            <a:off x="57505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t>4/18/16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543799" y="1035424"/>
            <a:ext cx="1322295" cy="5090739"/>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t>4/18/16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914400"/>
            <a:ext cx="6508377" cy="1143000"/>
          </a:xfrm>
          <a:prstGeom prst="rect">
            <a:avLst/>
          </a:prstGeom>
        </p:spPr>
        <p:txBody>
          <a:bodyPr vert="horz" lIns="91440" tIns="45720" rIns="91440" bIns="45720" rtlCol="0" anchor="b" anchorCtr="0">
            <a:noAutofit/>
          </a:bodyPr>
          <a:lstStyle/>
          <a:p>
            <a:r>
              <a:rPr lang="en-US" smtClean="0"/>
              <a:t>Click to edit Master title style</a:t>
            </a:r>
            <a:endParaRPr/>
          </a:p>
        </p:txBody>
      </p:sp>
      <p:sp>
        <p:nvSpPr>
          <p:cNvPr id="3" name="Text Placeholder 2"/>
          <p:cNvSpPr>
            <a:spLocks noGrp="1"/>
          </p:cNvSpPr>
          <p:nvPr>
            <p:ph type="body" idx="1"/>
          </p:nvPr>
        </p:nvSpPr>
        <p:spPr>
          <a:xfrm>
            <a:off x="457199" y="2209800"/>
            <a:ext cx="6508377" cy="39163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7198659" y="6356350"/>
            <a:ext cx="17526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B1A24CD3-204F-4468-8EE4-28A6668D006A}" type="datetimeFigureOut">
              <a:rPr lang="en-US" smtClean="0"/>
              <a:t>4/18/16</a:t>
            </a:fld>
            <a:endParaRPr lang="en-US"/>
          </a:p>
        </p:txBody>
      </p:sp>
      <p:sp>
        <p:nvSpPr>
          <p:cNvPr id="5" name="Footer Placeholder 4"/>
          <p:cNvSpPr>
            <a:spLocks noGrp="1"/>
          </p:cNvSpPr>
          <p:nvPr>
            <p:ph type="ftr" sz="quarter" idx="3"/>
          </p:nvPr>
        </p:nvSpPr>
        <p:spPr>
          <a:xfrm>
            <a:off x="174812" y="6356350"/>
            <a:ext cx="6007100"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8256494" y="361016"/>
            <a:ext cx="506506" cy="365125"/>
          </a:xfrm>
          <a:prstGeom prst="rect">
            <a:avLst/>
          </a:prstGeom>
        </p:spPr>
        <p:txBody>
          <a:bodyPr vert="horz" lIns="91440" tIns="45720" rIns="91440" bIns="45720" rtlCol="0" anchor="ctr"/>
          <a:lstStyle>
            <a:lvl1pPr algn="r">
              <a:defRPr sz="2200" b="1">
                <a:solidFill>
                  <a:schemeClr val="bg1"/>
                </a:solidFill>
              </a:defRPr>
            </a:lvl1pPr>
          </a:lstStyle>
          <a:p>
            <a:fld id="{57AF16DE-A0D5-4438-950F-5B1E159C2C2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151" y="4416340"/>
            <a:ext cx="8659368" cy="1048684"/>
          </a:xfrm>
        </p:spPr>
        <p:txBody>
          <a:bodyPr>
            <a:normAutofit fontScale="90000"/>
          </a:bodyPr>
          <a:lstStyle/>
          <a:p>
            <a:r>
              <a:rPr lang="en-US" dirty="0" smtClean="0"/>
              <a:t>Code Readability of a Java Source code</a:t>
            </a:r>
            <a:endParaRPr lang="en-US" dirty="0"/>
          </a:p>
        </p:txBody>
      </p:sp>
      <p:sp>
        <p:nvSpPr>
          <p:cNvPr id="3" name="Subtitle 2"/>
          <p:cNvSpPr>
            <a:spLocks noGrp="1"/>
          </p:cNvSpPr>
          <p:nvPr>
            <p:ph type="subTitle" idx="1"/>
          </p:nvPr>
        </p:nvSpPr>
        <p:spPr>
          <a:xfrm>
            <a:off x="4021014" y="5339653"/>
            <a:ext cx="5458968" cy="621792"/>
          </a:xfrm>
        </p:spPr>
        <p:txBody>
          <a:bodyPr>
            <a:noAutofit/>
          </a:bodyPr>
          <a:lstStyle/>
          <a:p>
            <a:r>
              <a:rPr lang="en-US" b="1" dirty="0" smtClean="0"/>
              <a:t>GCIS 698 Plan B – Technical Research</a:t>
            </a:r>
          </a:p>
          <a:p>
            <a:endParaRPr lang="en-US" b="1" dirty="0" smtClean="0"/>
          </a:p>
          <a:p>
            <a:r>
              <a:rPr lang="en-US" b="1" dirty="0" smtClean="0"/>
              <a:t>Amer </a:t>
            </a:r>
            <a:r>
              <a:rPr lang="en-US" b="1" dirty="0" err="1" smtClean="0"/>
              <a:t>Kaleemullah</a:t>
            </a:r>
            <a:endParaRPr lang="en-US" b="1" dirty="0"/>
          </a:p>
        </p:txBody>
      </p:sp>
    </p:spTree>
    <p:extLst>
      <p:ext uri="{BB962C8B-B14F-4D97-AF65-F5344CB8AC3E}">
        <p14:creationId xmlns:p14="http://schemas.microsoft.com/office/powerpoint/2010/main" val="3682307292"/>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a:t>
            </a:r>
            <a:endParaRPr lang="en-US" dirty="0"/>
          </a:p>
        </p:txBody>
      </p:sp>
      <p:sp>
        <p:nvSpPr>
          <p:cNvPr id="3" name="Content Placeholder 2"/>
          <p:cNvSpPr>
            <a:spLocks noGrp="1"/>
          </p:cNvSpPr>
          <p:nvPr>
            <p:ph idx="1"/>
          </p:nvPr>
        </p:nvSpPr>
        <p:spPr>
          <a:xfrm>
            <a:off x="457199" y="2209800"/>
            <a:ext cx="8411634" cy="3916363"/>
          </a:xfrm>
        </p:spPr>
        <p:txBody>
          <a:bodyPr>
            <a:normAutofit/>
          </a:bodyPr>
          <a:lstStyle/>
          <a:p>
            <a:r>
              <a:rPr lang="en-US" dirty="0" smtClean="0"/>
              <a:t>Code readability relates to how well a piece of code can be comprehended.</a:t>
            </a:r>
          </a:p>
          <a:p>
            <a:r>
              <a:rPr lang="en-US" dirty="0" smtClean="0"/>
              <a:t>Careful </a:t>
            </a:r>
            <a:r>
              <a:rPr lang="en-US" dirty="0"/>
              <a:t>selection of variable </a:t>
            </a:r>
            <a:r>
              <a:rPr lang="en-US" dirty="0" smtClean="0"/>
              <a:t>names, adequate usage of white space and tabs, etc. </a:t>
            </a:r>
            <a:r>
              <a:rPr lang="en-US" dirty="0"/>
              <a:t>is vital to readability</a:t>
            </a:r>
            <a:r>
              <a:rPr lang="en-US" dirty="0" smtClean="0"/>
              <a:t>.</a:t>
            </a:r>
          </a:p>
          <a:p>
            <a:r>
              <a:rPr lang="en-US" dirty="0"/>
              <a:t>Marc </a:t>
            </a:r>
            <a:r>
              <a:rPr lang="en-US" dirty="0" err="1"/>
              <a:t>Brysbaert</a:t>
            </a:r>
            <a:r>
              <a:rPr lang="en-US" dirty="0"/>
              <a:t>, Amy Beth </a:t>
            </a:r>
            <a:r>
              <a:rPr lang="en-US" dirty="0" err="1"/>
              <a:t>Warriner</a:t>
            </a:r>
            <a:r>
              <a:rPr lang="en-US" dirty="0"/>
              <a:t>, and Victor </a:t>
            </a:r>
            <a:r>
              <a:rPr lang="en-US" dirty="0" err="1"/>
              <a:t>Kuperman</a:t>
            </a:r>
            <a:r>
              <a:rPr lang="en-US" dirty="0"/>
              <a:t> </a:t>
            </a:r>
            <a:r>
              <a:rPr lang="en-US" dirty="0" smtClean="0"/>
              <a:t>developed a metric for code readability.</a:t>
            </a:r>
          </a:p>
          <a:p>
            <a:pPr lvl="1"/>
            <a:r>
              <a:rPr lang="en-US" dirty="0" smtClean="0"/>
              <a:t>These linguists developed a dictionary to calculate concreteness.</a:t>
            </a:r>
          </a:p>
          <a:p>
            <a:pPr lvl="1"/>
            <a:r>
              <a:rPr lang="en-US" dirty="0" smtClean="0"/>
              <a:t>Concreteness measurements exists only for words/variables</a:t>
            </a:r>
            <a:r>
              <a:rPr lang="en-US" dirty="0"/>
              <a:t> </a:t>
            </a:r>
            <a:r>
              <a:rPr lang="en-US" dirty="0" smtClean="0"/>
              <a:t>and not a class.</a:t>
            </a:r>
          </a:p>
          <a:p>
            <a:endParaRPr lang="en-US" dirty="0"/>
          </a:p>
        </p:txBody>
      </p:sp>
    </p:spTree>
    <p:extLst>
      <p:ext uri="{BB962C8B-B14F-4D97-AF65-F5344CB8AC3E}">
        <p14:creationId xmlns:p14="http://schemas.microsoft.com/office/powerpoint/2010/main" val="1941203945"/>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(cont.)</a:t>
            </a:r>
            <a:endParaRPr lang="en-US" dirty="0"/>
          </a:p>
        </p:txBody>
      </p:sp>
      <p:sp>
        <p:nvSpPr>
          <p:cNvPr id="3" name="Content Placeholder 2"/>
          <p:cNvSpPr>
            <a:spLocks noGrp="1"/>
          </p:cNvSpPr>
          <p:nvPr>
            <p:ph idx="1"/>
          </p:nvPr>
        </p:nvSpPr>
        <p:spPr>
          <a:xfrm>
            <a:off x="457199" y="2209800"/>
            <a:ext cx="8411634" cy="3916363"/>
          </a:xfrm>
        </p:spPr>
        <p:txBody>
          <a:bodyPr>
            <a:normAutofit/>
          </a:bodyPr>
          <a:lstStyle/>
          <a:p>
            <a:r>
              <a:rPr lang="en-US" dirty="0" smtClean="0"/>
              <a:t>Some studies have indicated that the code readability is related to bugs.</a:t>
            </a:r>
          </a:p>
          <a:p>
            <a:r>
              <a:rPr lang="en-US" dirty="0" smtClean="0"/>
              <a:t>There exists no method to determine the complexity of a Java software code based on the readability.</a:t>
            </a:r>
          </a:p>
          <a:p>
            <a:r>
              <a:rPr lang="en-US" dirty="0" smtClean="0"/>
              <a:t>My project focuses on evaluating the code readability of software written in Java.</a:t>
            </a:r>
          </a:p>
          <a:p>
            <a:r>
              <a:rPr lang="en-US" dirty="0" smtClean="0"/>
              <a:t>This project implements a complex 3 step approach of calculating the readability of a variety of programs.</a:t>
            </a:r>
          </a:p>
          <a:p>
            <a:endParaRPr lang="en-US" dirty="0"/>
          </a:p>
        </p:txBody>
      </p:sp>
    </p:spTree>
    <p:extLst>
      <p:ext uri="{BB962C8B-B14F-4D97-AF65-F5344CB8AC3E}">
        <p14:creationId xmlns:p14="http://schemas.microsoft.com/office/powerpoint/2010/main" val="3688403965"/>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955871168"/>
              </p:ext>
            </p:extLst>
          </p:nvPr>
        </p:nvGraphicFramePr>
        <p:xfrm>
          <a:off x="457199" y="2324100"/>
          <a:ext cx="8235270" cy="3871803"/>
        </p:xfrm>
        <a:graphic>
          <a:graphicData uri="http://schemas.openxmlformats.org/drawingml/2006/table">
            <a:tbl>
              <a:tblPr firstRow="1" bandRow="1">
                <a:tableStyleId>{69012ECD-51FC-41F1-AA8D-1B2483CD663E}</a:tableStyleId>
              </a:tblPr>
              <a:tblGrid>
                <a:gridCol w="4117635"/>
                <a:gridCol w="4117635"/>
              </a:tblGrid>
              <a:tr h="739351">
                <a:tc>
                  <a:txBody>
                    <a:bodyPr/>
                    <a:lstStyle/>
                    <a:p>
                      <a:endParaRPr lang="en-US" dirty="0" smtClean="0"/>
                    </a:p>
                    <a:p>
                      <a:r>
                        <a:rPr lang="en-US" dirty="0" smtClean="0"/>
                        <a:t>Element</a:t>
                      </a:r>
                      <a:endParaRPr lang="en-US" dirty="0"/>
                    </a:p>
                  </a:txBody>
                  <a:tcPr/>
                </a:tc>
                <a:tc>
                  <a:txBody>
                    <a:bodyPr/>
                    <a:lstStyle/>
                    <a:p>
                      <a:endParaRPr lang="en-US" dirty="0" smtClean="0"/>
                    </a:p>
                    <a:p>
                      <a:r>
                        <a:rPr lang="en-US" dirty="0" smtClean="0"/>
                        <a:t>Description</a:t>
                      </a:r>
                      <a:endParaRPr lang="en-US" dirty="0"/>
                    </a:p>
                  </a:txBody>
                  <a:tcPr/>
                </a:tc>
              </a:tr>
              <a:tr h="739351">
                <a:tc>
                  <a:txBody>
                    <a:bodyPr/>
                    <a:lstStyle/>
                    <a:p>
                      <a:endParaRPr lang="en-US" dirty="0" smtClean="0"/>
                    </a:p>
                    <a:p>
                      <a:r>
                        <a:rPr lang="en-US" dirty="0" smtClean="0"/>
                        <a:t>The Problem of …</a:t>
                      </a:r>
                      <a:endParaRPr lang="en-US" dirty="0"/>
                    </a:p>
                  </a:txBody>
                  <a:tcPr/>
                </a:tc>
                <a:tc>
                  <a:txBody>
                    <a:bodyPr/>
                    <a:lstStyle/>
                    <a:p>
                      <a:r>
                        <a:rPr lang="en-US" dirty="0" smtClean="0"/>
                        <a:t>How to measure the readability of a java class</a:t>
                      </a:r>
                      <a:endParaRPr lang="en-US" dirty="0"/>
                    </a:p>
                  </a:txBody>
                  <a:tcPr/>
                </a:tc>
              </a:tr>
              <a:tr h="739351">
                <a:tc>
                  <a:txBody>
                    <a:bodyPr/>
                    <a:lstStyle/>
                    <a:p>
                      <a:endParaRPr lang="en-US" dirty="0" smtClean="0"/>
                    </a:p>
                    <a:p>
                      <a:r>
                        <a:rPr lang="en-US" dirty="0" smtClean="0"/>
                        <a:t>Affects …</a:t>
                      </a:r>
                      <a:endParaRPr lang="en-US" dirty="0"/>
                    </a:p>
                  </a:txBody>
                  <a:tcPr/>
                </a:tc>
                <a:tc>
                  <a:txBody>
                    <a:bodyPr/>
                    <a:lstStyle/>
                    <a:p>
                      <a:endParaRPr lang="en-US" dirty="0" smtClean="0"/>
                    </a:p>
                    <a:p>
                      <a:r>
                        <a:rPr lang="en-US" dirty="0" smtClean="0"/>
                        <a:t>All programmers &amp; QA testers</a:t>
                      </a:r>
                      <a:endParaRPr lang="en-US" dirty="0"/>
                    </a:p>
                  </a:txBody>
                  <a:tcPr/>
                </a:tc>
              </a:tr>
              <a:tr h="739351">
                <a:tc>
                  <a:txBody>
                    <a:bodyPr/>
                    <a:lstStyle/>
                    <a:p>
                      <a:endParaRPr lang="en-US" dirty="0" smtClean="0"/>
                    </a:p>
                    <a:p>
                      <a:r>
                        <a:rPr lang="en-US" dirty="0" smtClean="0"/>
                        <a:t>And Results</a:t>
                      </a:r>
                      <a:r>
                        <a:rPr lang="en-US" baseline="0" dirty="0" smtClean="0"/>
                        <a:t> in …</a:t>
                      </a:r>
                      <a:endParaRPr lang="en-US" dirty="0"/>
                    </a:p>
                  </a:txBody>
                  <a:tcPr/>
                </a:tc>
                <a:tc>
                  <a:txBody>
                    <a:bodyPr/>
                    <a:lstStyle/>
                    <a:p>
                      <a:r>
                        <a:rPr lang="en-US" dirty="0" smtClean="0"/>
                        <a:t>Reusability</a:t>
                      </a:r>
                      <a:r>
                        <a:rPr lang="en-US" baseline="0" dirty="0" smtClean="0"/>
                        <a:t> and difficulty in maintenance and deployment</a:t>
                      </a:r>
                      <a:endParaRPr lang="en-US" dirty="0"/>
                    </a:p>
                  </a:txBody>
                  <a:tcPr/>
                </a:tc>
              </a:tr>
              <a:tr h="739351">
                <a:tc>
                  <a:txBody>
                    <a:bodyPr/>
                    <a:lstStyle/>
                    <a:p>
                      <a:endParaRPr lang="en-US" dirty="0" smtClean="0"/>
                    </a:p>
                    <a:p>
                      <a:r>
                        <a:rPr lang="en-US" dirty="0" smtClean="0"/>
                        <a:t>Benefits of a solution</a:t>
                      </a:r>
                      <a:r>
                        <a:rPr lang="en-US" baseline="0" dirty="0" smtClean="0"/>
                        <a:t> …</a:t>
                      </a:r>
                      <a:endParaRPr lang="en-US" dirty="0"/>
                    </a:p>
                  </a:txBody>
                  <a:tcPr/>
                </a:tc>
                <a:tc>
                  <a:txBody>
                    <a:bodyPr/>
                    <a:lstStyle/>
                    <a:p>
                      <a:endParaRPr lang="en-US" dirty="0" smtClean="0"/>
                    </a:p>
                    <a:p>
                      <a:r>
                        <a:rPr lang="en-US" dirty="0" smtClean="0"/>
                        <a:t>Easy to understand the purpose of a code</a:t>
                      </a:r>
                      <a:endParaRPr lang="en-US" dirty="0"/>
                    </a:p>
                  </a:txBody>
                  <a:tcPr/>
                </a:tc>
              </a:tr>
            </a:tbl>
          </a:graphicData>
        </a:graphic>
      </p:graphicFrame>
    </p:spTree>
    <p:extLst>
      <p:ext uri="{BB962C8B-B14F-4D97-AF65-F5344CB8AC3E}">
        <p14:creationId xmlns:p14="http://schemas.microsoft.com/office/powerpoint/2010/main" val="2004908571"/>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 Lexical Grammar</a:t>
            </a:r>
            <a:endParaRPr lang="en-US" dirty="0"/>
          </a:p>
        </p:txBody>
      </p:sp>
      <p:pic>
        <p:nvPicPr>
          <p:cNvPr id="6" name="Content Placeholder 5" descr="Screen Shot 2015-04-13 at 4.39.26 PM.png"/>
          <p:cNvPicPr>
            <a:picLocks noGrp="1" noChangeAspect="1"/>
          </p:cNvPicPr>
          <p:nvPr>
            <p:ph idx="1"/>
          </p:nvPr>
        </p:nvPicPr>
        <p:blipFill rotWithShape="1">
          <a:blip r:embed="rId3">
            <a:extLst>
              <a:ext uri="{28A0092B-C50C-407E-A947-70E740481C1C}">
                <a14:useLocalDpi xmlns:a14="http://schemas.microsoft.com/office/drawing/2010/main" val="0"/>
              </a:ext>
            </a:extLst>
          </a:blip>
          <a:srcRect l="717" r="-208"/>
          <a:stretch/>
        </p:blipFill>
        <p:spPr>
          <a:xfrm>
            <a:off x="1219199" y="2209800"/>
            <a:ext cx="3132668" cy="3916363"/>
          </a:xfrm>
        </p:spPr>
      </p:pic>
      <p:pic>
        <p:nvPicPr>
          <p:cNvPr id="7" name="Picture 6" descr="Screen Shot 2015-04-13 at 4.42.24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2109" y="2209800"/>
            <a:ext cx="2527300" cy="1041400"/>
          </a:xfrm>
          <a:prstGeom prst="rect">
            <a:avLst/>
          </a:prstGeom>
        </p:spPr>
      </p:pic>
      <p:pic>
        <p:nvPicPr>
          <p:cNvPr id="8" name="Picture 7" descr="Screen Shot 2015-04-13 at 4.42.43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2109" y="4183063"/>
            <a:ext cx="2692400" cy="1943100"/>
          </a:xfrm>
          <a:prstGeom prst="rect">
            <a:avLst/>
          </a:prstGeom>
        </p:spPr>
      </p:pic>
    </p:spTree>
    <p:extLst>
      <p:ext uri="{BB962C8B-B14F-4D97-AF65-F5344CB8AC3E}">
        <p14:creationId xmlns:p14="http://schemas.microsoft.com/office/powerpoint/2010/main" val="2116113327"/>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US" dirty="0"/>
          </a:p>
        </p:txBody>
      </p:sp>
      <p:sp>
        <p:nvSpPr>
          <p:cNvPr id="3" name="Content Placeholder 2"/>
          <p:cNvSpPr>
            <a:spLocks noGrp="1"/>
          </p:cNvSpPr>
          <p:nvPr>
            <p:ph idx="1"/>
          </p:nvPr>
        </p:nvSpPr>
        <p:spPr>
          <a:xfrm>
            <a:off x="457199" y="2209800"/>
            <a:ext cx="7044967" cy="3880973"/>
          </a:xfrm>
        </p:spPr>
        <p:txBody>
          <a:bodyPr>
            <a:normAutofit/>
          </a:bodyPr>
          <a:lstStyle/>
          <a:p>
            <a:r>
              <a:rPr lang="en-US" dirty="0" smtClean="0"/>
              <a:t>Code a measuring system/algorithm in Java to evaluate the readability of an entire software code through its analysis reports. </a:t>
            </a:r>
          </a:p>
          <a:p>
            <a:pPr marL="0" indent="0">
              <a:buNone/>
            </a:pPr>
            <a:endParaRPr lang="en-US" dirty="0" smtClean="0"/>
          </a:p>
          <a:p>
            <a:pPr marL="228600" lvl="1" indent="0">
              <a:buNone/>
            </a:pPr>
            <a:endParaRPr lang="en-US" dirty="0"/>
          </a:p>
        </p:txBody>
      </p:sp>
    </p:spTree>
    <p:extLst>
      <p:ext uri="{BB962C8B-B14F-4D97-AF65-F5344CB8AC3E}">
        <p14:creationId xmlns:p14="http://schemas.microsoft.com/office/powerpoint/2010/main" val="1350011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 (3 Phases)</a:t>
            </a:r>
            <a:endParaRPr lang="en-US" dirty="0"/>
          </a:p>
        </p:txBody>
      </p:sp>
      <p:sp>
        <p:nvSpPr>
          <p:cNvPr id="3" name="Content Placeholder 2"/>
          <p:cNvSpPr>
            <a:spLocks noGrp="1"/>
          </p:cNvSpPr>
          <p:nvPr>
            <p:ph idx="1"/>
          </p:nvPr>
        </p:nvSpPr>
        <p:spPr>
          <a:xfrm>
            <a:off x="457199" y="2209800"/>
            <a:ext cx="8415868" cy="3916363"/>
          </a:xfrm>
        </p:spPr>
        <p:txBody>
          <a:bodyPr>
            <a:normAutofit/>
          </a:bodyPr>
          <a:lstStyle/>
          <a:p>
            <a:r>
              <a:rPr lang="en-US" dirty="0" err="1"/>
              <a:t>Ph</a:t>
            </a:r>
            <a:r>
              <a:rPr lang="en-US" dirty="0"/>
              <a:t> </a:t>
            </a:r>
            <a:r>
              <a:rPr lang="en-US" dirty="0" smtClean="0"/>
              <a:t>1. </a:t>
            </a:r>
            <a:r>
              <a:rPr lang="en-US" dirty="0"/>
              <a:t>Measure the readability of one method </a:t>
            </a:r>
            <a:r>
              <a:rPr lang="en-US" dirty="0" smtClean="0"/>
              <a:t>body and then </a:t>
            </a:r>
            <a:r>
              <a:rPr lang="en-US" dirty="0"/>
              <a:t>multiple </a:t>
            </a:r>
            <a:r>
              <a:rPr lang="en-US" dirty="0" smtClean="0"/>
              <a:t>methods (</a:t>
            </a:r>
            <a:r>
              <a:rPr lang="en-US" dirty="0"/>
              <a:t>they could be related or not)</a:t>
            </a:r>
            <a:r>
              <a:rPr lang="en-US" dirty="0" smtClean="0"/>
              <a:t>.</a:t>
            </a:r>
            <a:endParaRPr lang="en-US" dirty="0"/>
          </a:p>
          <a:p>
            <a:r>
              <a:rPr lang="en-US" dirty="0" err="1" smtClean="0"/>
              <a:t>Ph</a:t>
            </a:r>
            <a:r>
              <a:rPr lang="en-US" dirty="0" smtClean="0"/>
              <a:t> </a:t>
            </a:r>
            <a:r>
              <a:rPr lang="en-US" dirty="0" smtClean="0"/>
              <a:t>1.2. </a:t>
            </a:r>
            <a:r>
              <a:rPr lang="en-US" dirty="0" smtClean="0"/>
              <a:t>Determine the amount of Calls made and received by every method and figure out the direction</a:t>
            </a:r>
            <a:r>
              <a:rPr lang="en-US" dirty="0" smtClean="0"/>
              <a:t>.</a:t>
            </a:r>
          </a:p>
          <a:p>
            <a:r>
              <a:rPr lang="en-US" dirty="0" smtClean="0"/>
              <a:t>Ph. 2. Using results obtained from the last phase, determine the readability of methods using data which says where a variable was declared and used.</a:t>
            </a:r>
            <a:endParaRPr lang="en-US" dirty="0"/>
          </a:p>
          <a:p>
            <a:r>
              <a:rPr lang="en-US" dirty="0" err="1"/>
              <a:t>Ph</a:t>
            </a:r>
            <a:r>
              <a:rPr lang="en-US" dirty="0"/>
              <a:t> 3. </a:t>
            </a:r>
            <a:r>
              <a:rPr lang="en-US" dirty="0" smtClean="0"/>
              <a:t>Code an algorithm to measure the whole concreteness of an entire software </a:t>
            </a:r>
            <a:r>
              <a:rPr lang="en-US" dirty="0" smtClean="0"/>
              <a:t>code using method readability and methods calls in and out.</a:t>
            </a:r>
            <a:endParaRPr lang="en-US" dirty="0"/>
          </a:p>
          <a:p>
            <a:pPr marL="228600" lvl="1" indent="0">
              <a:buNone/>
            </a:pPr>
            <a:endParaRPr lang="en-US" dirty="0"/>
          </a:p>
          <a:p>
            <a:endParaRPr lang="en-US" dirty="0"/>
          </a:p>
        </p:txBody>
      </p:sp>
    </p:spTree>
    <p:extLst>
      <p:ext uri="{BB962C8B-B14F-4D97-AF65-F5344CB8AC3E}">
        <p14:creationId xmlns:p14="http://schemas.microsoft.com/office/powerpoint/2010/main" val="2535560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Software Code</a:t>
            </a:r>
            <a:endParaRPr lang="en-US" dirty="0"/>
          </a:p>
        </p:txBody>
      </p:sp>
      <p:sp>
        <p:nvSpPr>
          <p:cNvPr id="3" name="Content Placeholder 2"/>
          <p:cNvSpPr>
            <a:spLocks noGrp="1"/>
          </p:cNvSpPr>
          <p:nvPr>
            <p:ph idx="1"/>
          </p:nvPr>
        </p:nvSpPr>
        <p:spPr>
          <a:xfrm>
            <a:off x="457199" y="2209800"/>
            <a:ext cx="8432801" cy="3916363"/>
          </a:xfrm>
        </p:spPr>
        <p:txBody>
          <a:bodyPr/>
          <a:lstStyle/>
          <a:p>
            <a:r>
              <a:rPr lang="en-US" dirty="0" smtClean="0"/>
              <a:t>Dr. </a:t>
            </a:r>
            <a:r>
              <a:rPr lang="en-US" dirty="0" err="1" smtClean="0"/>
              <a:t>Xu</a:t>
            </a:r>
            <a:r>
              <a:rPr lang="en-US" dirty="0" smtClean="0"/>
              <a:t> has provided me with 12 software codes that covers a variety of Java programs which are quite large and time consuming to generate reports.</a:t>
            </a:r>
          </a:p>
          <a:p>
            <a:r>
              <a:rPr lang="en-US" dirty="0" smtClean="0"/>
              <a:t>Before jumping to the highly complex codes, I first ran my analyses on a few simple codes for ease of understanding and generating the results.</a:t>
            </a:r>
          </a:p>
          <a:p>
            <a:r>
              <a:rPr lang="en-US" dirty="0" smtClean="0"/>
              <a:t>These simple codes were written by me, and each program is structured around either a Class Chain-link, Satellite or Tree structure.</a:t>
            </a:r>
            <a:endParaRPr lang="en-US" dirty="0"/>
          </a:p>
        </p:txBody>
      </p:sp>
    </p:spTree>
    <p:extLst>
      <p:ext uri="{BB962C8B-B14F-4D97-AF65-F5344CB8AC3E}">
        <p14:creationId xmlns:p14="http://schemas.microsoft.com/office/powerpoint/2010/main" val="736028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Software Code</a:t>
            </a:r>
            <a:endParaRPr lang="en-US" dirty="0"/>
          </a:p>
        </p:txBody>
      </p:sp>
      <p:sp>
        <p:nvSpPr>
          <p:cNvPr id="3" name="Content Placeholder 2"/>
          <p:cNvSpPr>
            <a:spLocks noGrp="1"/>
          </p:cNvSpPr>
          <p:nvPr>
            <p:ph idx="1"/>
          </p:nvPr>
        </p:nvSpPr>
        <p:spPr>
          <a:xfrm>
            <a:off x="457200" y="2209800"/>
            <a:ext cx="6010032" cy="3916363"/>
          </a:xfrm>
        </p:spPr>
        <p:txBody>
          <a:bodyPr>
            <a:normAutofit/>
          </a:bodyPr>
          <a:lstStyle/>
          <a:p>
            <a:r>
              <a:rPr lang="en-US" sz="2400" dirty="0" smtClean="0"/>
              <a:t>CLASS CHAIN</a:t>
            </a:r>
          </a:p>
          <a:p>
            <a:pPr lvl="1"/>
            <a:r>
              <a:rPr lang="en-US" sz="2000" dirty="0" smtClean="0"/>
              <a:t>Here, from the top level class onwards, every class creates an object from the proceeding class and calls 2 methods, namely:</a:t>
            </a:r>
          </a:p>
          <a:p>
            <a:pPr marL="228600" lvl="1" indent="0">
              <a:buNone/>
            </a:pPr>
            <a:endParaRPr lang="en-US" sz="2000" dirty="0" smtClean="0"/>
          </a:p>
          <a:p>
            <a:pPr lvl="3"/>
            <a:r>
              <a:rPr lang="en-US" sz="2000" dirty="0" smtClean="0"/>
              <a:t>The </a:t>
            </a:r>
            <a:r>
              <a:rPr lang="en-US" sz="2000" dirty="0"/>
              <a:t>C</a:t>
            </a:r>
            <a:r>
              <a:rPr lang="en-US" sz="2000" dirty="0" smtClean="0"/>
              <a:t>onstructor method</a:t>
            </a:r>
          </a:p>
          <a:p>
            <a:pPr lvl="3"/>
            <a:endParaRPr lang="en-US" sz="2000" dirty="0" smtClean="0"/>
          </a:p>
          <a:p>
            <a:pPr lvl="3"/>
            <a:r>
              <a:rPr lang="en-US" sz="2000" dirty="0" smtClean="0"/>
              <a:t>The </a:t>
            </a:r>
            <a:r>
              <a:rPr lang="en-US" sz="2000" dirty="0"/>
              <a:t>E</a:t>
            </a:r>
            <a:r>
              <a:rPr lang="en-US" sz="2000" dirty="0" smtClean="0"/>
              <a:t>mployee method: This simple method creates an employee object and assigns values.</a:t>
            </a:r>
            <a:endParaRPr lang="en-US" sz="2000" dirty="0"/>
          </a:p>
        </p:txBody>
      </p:sp>
      <p:pic>
        <p:nvPicPr>
          <p:cNvPr id="4" name="Picture 3"/>
          <p:cNvPicPr>
            <a:picLocks noChangeAspect="1"/>
          </p:cNvPicPr>
          <p:nvPr/>
        </p:nvPicPr>
        <p:blipFill>
          <a:blip r:embed="rId2"/>
          <a:stretch>
            <a:fillRect/>
          </a:stretch>
        </p:blipFill>
        <p:spPr>
          <a:xfrm>
            <a:off x="6310923" y="0"/>
            <a:ext cx="2833077" cy="6596096"/>
          </a:xfrm>
          <a:prstGeom prst="rect">
            <a:avLst/>
          </a:prstGeom>
        </p:spPr>
      </p:pic>
    </p:spTree>
    <p:extLst>
      <p:ext uri="{BB962C8B-B14F-4D97-AF65-F5344CB8AC3E}">
        <p14:creationId xmlns:p14="http://schemas.microsoft.com/office/powerpoint/2010/main" val="1292014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Software Code</a:t>
            </a:r>
            <a:endParaRPr lang="en-US" dirty="0"/>
          </a:p>
        </p:txBody>
      </p:sp>
      <p:sp>
        <p:nvSpPr>
          <p:cNvPr id="3" name="Content Placeholder 2"/>
          <p:cNvSpPr>
            <a:spLocks noGrp="1"/>
          </p:cNvSpPr>
          <p:nvPr>
            <p:ph idx="1"/>
          </p:nvPr>
        </p:nvSpPr>
        <p:spPr>
          <a:xfrm>
            <a:off x="105517" y="2209800"/>
            <a:ext cx="4661870" cy="3916363"/>
          </a:xfrm>
        </p:spPr>
        <p:txBody>
          <a:bodyPr>
            <a:normAutofit fontScale="92500" lnSpcReduction="10000"/>
          </a:bodyPr>
          <a:lstStyle/>
          <a:p>
            <a:r>
              <a:rPr lang="en-US" sz="2400" dirty="0" smtClean="0"/>
              <a:t>CLASS TREE</a:t>
            </a:r>
          </a:p>
          <a:p>
            <a:pPr lvl="1"/>
            <a:r>
              <a:rPr lang="en-US" sz="2000" dirty="0" smtClean="0"/>
              <a:t>Similarly, here from the top level class onwards, every class creates an object from the proceeding class and calls 2 methods, namely:</a:t>
            </a:r>
          </a:p>
          <a:p>
            <a:pPr marL="228600" lvl="1" indent="0">
              <a:buNone/>
            </a:pPr>
            <a:endParaRPr lang="en-US" sz="2000" dirty="0" smtClean="0"/>
          </a:p>
          <a:p>
            <a:pPr lvl="3"/>
            <a:r>
              <a:rPr lang="en-US" sz="2000" dirty="0" smtClean="0"/>
              <a:t>The </a:t>
            </a:r>
            <a:r>
              <a:rPr lang="en-US" sz="2000" dirty="0"/>
              <a:t>C</a:t>
            </a:r>
            <a:r>
              <a:rPr lang="en-US" sz="2000" dirty="0" smtClean="0"/>
              <a:t>onstructor method</a:t>
            </a:r>
          </a:p>
          <a:p>
            <a:pPr lvl="3"/>
            <a:endParaRPr lang="en-US" sz="2000" dirty="0" smtClean="0"/>
          </a:p>
          <a:p>
            <a:pPr lvl="3"/>
            <a:r>
              <a:rPr lang="en-US" sz="2000" dirty="0" smtClean="0"/>
              <a:t>The </a:t>
            </a:r>
            <a:r>
              <a:rPr lang="en-US" sz="2000" dirty="0"/>
              <a:t>E</a:t>
            </a:r>
            <a:r>
              <a:rPr lang="en-US" sz="2000" dirty="0" smtClean="0"/>
              <a:t>mployee method: This simple method creates an employee object and assigns values.</a:t>
            </a:r>
            <a:endParaRPr lang="en-US" sz="2000" dirty="0"/>
          </a:p>
        </p:txBody>
      </p:sp>
      <p:pic>
        <p:nvPicPr>
          <p:cNvPr id="5" name="Picture 4"/>
          <p:cNvPicPr>
            <a:picLocks noChangeAspect="1"/>
          </p:cNvPicPr>
          <p:nvPr/>
        </p:nvPicPr>
        <p:blipFill>
          <a:blip r:embed="rId2"/>
          <a:stretch>
            <a:fillRect/>
          </a:stretch>
        </p:blipFill>
        <p:spPr>
          <a:xfrm>
            <a:off x="4767386" y="2057400"/>
            <a:ext cx="4239846" cy="4037623"/>
          </a:xfrm>
          <a:prstGeom prst="rect">
            <a:avLst/>
          </a:prstGeom>
        </p:spPr>
      </p:pic>
    </p:spTree>
    <p:extLst>
      <p:ext uri="{BB962C8B-B14F-4D97-AF65-F5344CB8AC3E}">
        <p14:creationId xmlns:p14="http://schemas.microsoft.com/office/powerpoint/2010/main" val="4141991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99266"/>
            <a:ext cx="6508377" cy="1143000"/>
          </a:xfrm>
        </p:spPr>
        <p:txBody>
          <a:bodyPr/>
          <a:lstStyle/>
          <a:p>
            <a:r>
              <a:rPr lang="en-US" dirty="0" smtClean="0"/>
              <a:t>Types of Software Code</a:t>
            </a:r>
            <a:endParaRPr lang="en-US" dirty="0"/>
          </a:p>
        </p:txBody>
      </p:sp>
      <p:sp>
        <p:nvSpPr>
          <p:cNvPr id="3" name="Content Placeholder 2"/>
          <p:cNvSpPr>
            <a:spLocks noGrp="1"/>
          </p:cNvSpPr>
          <p:nvPr>
            <p:ph idx="1"/>
          </p:nvPr>
        </p:nvSpPr>
        <p:spPr>
          <a:xfrm>
            <a:off x="105516" y="3575538"/>
            <a:ext cx="8901715" cy="2550625"/>
          </a:xfrm>
        </p:spPr>
        <p:txBody>
          <a:bodyPr>
            <a:normAutofit fontScale="92500" lnSpcReduction="20000"/>
          </a:bodyPr>
          <a:lstStyle/>
          <a:p>
            <a:r>
              <a:rPr lang="en-US" sz="2400" dirty="0" smtClean="0"/>
              <a:t>CLASS SATELLITE</a:t>
            </a:r>
          </a:p>
          <a:p>
            <a:pPr lvl="1"/>
            <a:r>
              <a:rPr lang="en-US" sz="2000" dirty="0" smtClean="0"/>
              <a:t>Here,  </a:t>
            </a:r>
            <a:r>
              <a:rPr lang="en-US" sz="2000" dirty="0" err="1" smtClean="0"/>
              <a:t>javaClass</a:t>
            </a:r>
            <a:r>
              <a:rPr lang="en-US" sz="2000" dirty="0" smtClean="0"/>
              <a:t> creates an object from each of the proceeding classes and calls 2 methods, namely:</a:t>
            </a:r>
          </a:p>
          <a:p>
            <a:pPr marL="228600" lvl="1" indent="0">
              <a:buNone/>
            </a:pPr>
            <a:endParaRPr lang="en-US" sz="2000" dirty="0" smtClean="0"/>
          </a:p>
          <a:p>
            <a:pPr lvl="3"/>
            <a:r>
              <a:rPr lang="en-US" sz="2000" dirty="0" smtClean="0"/>
              <a:t>The </a:t>
            </a:r>
            <a:r>
              <a:rPr lang="en-US" sz="2000" dirty="0"/>
              <a:t>C</a:t>
            </a:r>
            <a:r>
              <a:rPr lang="en-US" sz="2000" dirty="0" smtClean="0"/>
              <a:t>onstructor method</a:t>
            </a:r>
          </a:p>
          <a:p>
            <a:pPr lvl="3"/>
            <a:endParaRPr lang="en-US" sz="2000" dirty="0" smtClean="0"/>
          </a:p>
          <a:p>
            <a:pPr lvl="3"/>
            <a:r>
              <a:rPr lang="en-US" sz="2000" dirty="0" smtClean="0"/>
              <a:t>The </a:t>
            </a:r>
            <a:r>
              <a:rPr lang="en-US" sz="2000" dirty="0"/>
              <a:t>E</a:t>
            </a:r>
            <a:r>
              <a:rPr lang="en-US" sz="2000" dirty="0" smtClean="0"/>
              <a:t>mployee method: This simple method creates an employee object and assigns values.</a:t>
            </a:r>
            <a:endParaRPr lang="en-US" sz="2000" dirty="0"/>
          </a:p>
        </p:txBody>
      </p:sp>
      <p:pic>
        <p:nvPicPr>
          <p:cNvPr id="4" name="Picture 3"/>
          <p:cNvPicPr>
            <a:picLocks noChangeAspect="1"/>
          </p:cNvPicPr>
          <p:nvPr/>
        </p:nvPicPr>
        <p:blipFill>
          <a:blip r:embed="rId2"/>
          <a:stretch>
            <a:fillRect/>
          </a:stretch>
        </p:blipFill>
        <p:spPr>
          <a:xfrm>
            <a:off x="457198" y="943733"/>
            <a:ext cx="7525511" cy="2475497"/>
          </a:xfrm>
          <a:prstGeom prst="rect">
            <a:avLst/>
          </a:prstGeom>
        </p:spPr>
      </p:pic>
    </p:spTree>
    <p:extLst>
      <p:ext uri="{BB962C8B-B14F-4D97-AF65-F5344CB8AC3E}">
        <p14:creationId xmlns:p14="http://schemas.microsoft.com/office/powerpoint/2010/main" val="875039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Technical Approach</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610797814"/>
              </p:ext>
            </p:extLst>
          </p:nvPr>
        </p:nvGraphicFramePr>
        <p:xfrm>
          <a:off x="1397371" y="2605096"/>
          <a:ext cx="6508377" cy="3916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19649802"/>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3538"/>
            <a:ext cx="6693878" cy="1143000"/>
          </a:xfrm>
        </p:spPr>
        <p:txBody>
          <a:bodyPr/>
          <a:lstStyle/>
          <a:p>
            <a:r>
              <a:rPr lang="en-US" dirty="0" smtClean="0"/>
              <a:t>Report Gen. (Phase 1, Task 1)</a:t>
            </a:r>
            <a:endParaRPr lang="en-US" dirty="0"/>
          </a:p>
        </p:txBody>
      </p:sp>
      <p:sp>
        <p:nvSpPr>
          <p:cNvPr id="3" name="Content Placeholder 2"/>
          <p:cNvSpPr>
            <a:spLocks noGrp="1"/>
          </p:cNvSpPr>
          <p:nvPr>
            <p:ph idx="1"/>
          </p:nvPr>
        </p:nvSpPr>
        <p:spPr>
          <a:xfrm>
            <a:off x="457199" y="1465393"/>
            <a:ext cx="8471878" cy="1594338"/>
          </a:xfrm>
        </p:spPr>
        <p:txBody>
          <a:bodyPr/>
          <a:lstStyle/>
          <a:p>
            <a:r>
              <a:rPr lang="en-US" dirty="0" smtClean="0"/>
              <a:t>Phase 1 was divided into 3 Tasks.</a:t>
            </a:r>
          </a:p>
          <a:p>
            <a:r>
              <a:rPr lang="en-US" b="1" dirty="0" smtClean="0"/>
              <a:t>Task 1</a:t>
            </a:r>
            <a:r>
              <a:rPr lang="en-US" dirty="0" smtClean="0"/>
              <a:t>: A File tree was created using </a:t>
            </a:r>
            <a:r>
              <a:rPr lang="en-US" dirty="0" err="1" smtClean="0"/>
              <a:t>SimpleFileWalker</a:t>
            </a:r>
            <a:r>
              <a:rPr lang="en-US" dirty="0" smtClean="0"/>
              <a:t> to determine the packages and sub-folders and the .java files present in them.</a:t>
            </a:r>
          </a:p>
          <a:p>
            <a:endParaRPr lang="en-US" dirty="0"/>
          </a:p>
        </p:txBody>
      </p:sp>
      <p:pic>
        <p:nvPicPr>
          <p:cNvPr id="4" name="Picture 3"/>
          <p:cNvPicPr>
            <a:picLocks noChangeAspect="1"/>
          </p:cNvPicPr>
          <p:nvPr/>
        </p:nvPicPr>
        <p:blipFill>
          <a:blip r:embed="rId2"/>
          <a:stretch>
            <a:fillRect/>
          </a:stretch>
        </p:blipFill>
        <p:spPr>
          <a:xfrm>
            <a:off x="1152769" y="3003547"/>
            <a:ext cx="7053384" cy="3854453"/>
          </a:xfrm>
          <a:prstGeom prst="rect">
            <a:avLst/>
          </a:prstGeom>
          <a:ln>
            <a:solidFill>
              <a:srgbClr val="990000"/>
            </a:solidFill>
          </a:ln>
        </p:spPr>
      </p:pic>
    </p:spTree>
    <p:extLst>
      <p:ext uri="{BB962C8B-B14F-4D97-AF65-F5344CB8AC3E}">
        <p14:creationId xmlns:p14="http://schemas.microsoft.com/office/powerpoint/2010/main" val="2382248609"/>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3538"/>
            <a:ext cx="6693878" cy="1143000"/>
          </a:xfrm>
        </p:spPr>
        <p:txBody>
          <a:bodyPr/>
          <a:lstStyle/>
          <a:p>
            <a:r>
              <a:rPr lang="en-US" dirty="0"/>
              <a:t>Report Gen. (Phase 1, Task </a:t>
            </a:r>
            <a:r>
              <a:rPr lang="en-US" dirty="0" smtClean="0"/>
              <a:t>2)</a:t>
            </a:r>
            <a:endParaRPr lang="en-US" dirty="0"/>
          </a:p>
        </p:txBody>
      </p:sp>
      <p:sp>
        <p:nvSpPr>
          <p:cNvPr id="3" name="Content Placeholder 2"/>
          <p:cNvSpPr>
            <a:spLocks noGrp="1"/>
          </p:cNvSpPr>
          <p:nvPr>
            <p:ph idx="1"/>
          </p:nvPr>
        </p:nvSpPr>
        <p:spPr>
          <a:xfrm>
            <a:off x="457199" y="1817077"/>
            <a:ext cx="8471878" cy="1594338"/>
          </a:xfrm>
        </p:spPr>
        <p:txBody>
          <a:bodyPr>
            <a:normAutofit lnSpcReduction="10000"/>
          </a:bodyPr>
          <a:lstStyle/>
          <a:p>
            <a:r>
              <a:rPr lang="en-US" b="1" dirty="0" smtClean="0"/>
              <a:t>Task </a:t>
            </a:r>
            <a:r>
              <a:rPr lang="en-US" b="1" dirty="0"/>
              <a:t>2</a:t>
            </a:r>
            <a:r>
              <a:rPr lang="en-US" dirty="0" smtClean="0"/>
              <a:t>: Here, the code refers to the file report generated from Task 1 to generate another report which lists the package, class, methods, variable type, variable, variable declaration and usage line numbers delimited by a tab. Antlr4 </a:t>
            </a:r>
            <a:r>
              <a:rPr lang="en-US" dirty="0" err="1" smtClean="0"/>
              <a:t>JavaBaseListener</a:t>
            </a:r>
            <a:r>
              <a:rPr lang="en-US" dirty="0" smtClean="0"/>
              <a:t> was customized to implement this. </a:t>
            </a:r>
            <a:endParaRPr lang="en-US" dirty="0"/>
          </a:p>
        </p:txBody>
      </p:sp>
      <p:pic>
        <p:nvPicPr>
          <p:cNvPr id="5" name="Picture 4"/>
          <p:cNvPicPr>
            <a:picLocks noChangeAspect="1"/>
          </p:cNvPicPr>
          <p:nvPr/>
        </p:nvPicPr>
        <p:blipFill rotWithShape="1">
          <a:blip r:embed="rId2"/>
          <a:srcRect b="19086"/>
          <a:stretch/>
        </p:blipFill>
        <p:spPr>
          <a:xfrm>
            <a:off x="-1305" y="3561212"/>
            <a:ext cx="11431305" cy="2500922"/>
          </a:xfrm>
          <a:prstGeom prst="rect">
            <a:avLst/>
          </a:prstGeom>
          <a:ln>
            <a:solidFill>
              <a:srgbClr val="990000"/>
            </a:solidFill>
          </a:ln>
        </p:spPr>
      </p:pic>
    </p:spTree>
    <p:extLst>
      <p:ext uri="{BB962C8B-B14F-4D97-AF65-F5344CB8AC3E}">
        <p14:creationId xmlns:p14="http://schemas.microsoft.com/office/powerpoint/2010/main" val="3394649721"/>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3538"/>
            <a:ext cx="6693878" cy="1143000"/>
          </a:xfrm>
        </p:spPr>
        <p:txBody>
          <a:bodyPr/>
          <a:lstStyle/>
          <a:p>
            <a:r>
              <a:rPr lang="en-US" dirty="0"/>
              <a:t>Report Gen. (Phase 1, Task 3</a:t>
            </a:r>
            <a:r>
              <a:rPr lang="en-US" dirty="0" smtClean="0"/>
              <a:t>)</a:t>
            </a:r>
            <a:endParaRPr lang="en-US" dirty="0"/>
          </a:p>
        </p:txBody>
      </p:sp>
      <p:sp>
        <p:nvSpPr>
          <p:cNvPr id="3" name="Content Placeholder 2"/>
          <p:cNvSpPr>
            <a:spLocks noGrp="1"/>
          </p:cNvSpPr>
          <p:nvPr>
            <p:ph idx="1"/>
          </p:nvPr>
        </p:nvSpPr>
        <p:spPr>
          <a:xfrm>
            <a:off x="457199" y="1817077"/>
            <a:ext cx="8471878" cy="1594338"/>
          </a:xfrm>
        </p:spPr>
        <p:txBody>
          <a:bodyPr/>
          <a:lstStyle/>
          <a:p>
            <a:r>
              <a:rPr lang="en-US" b="1" dirty="0" smtClean="0"/>
              <a:t>Task 3</a:t>
            </a:r>
            <a:r>
              <a:rPr lang="en-US" dirty="0" smtClean="0"/>
              <a:t>: </a:t>
            </a:r>
            <a:r>
              <a:rPr lang="en-US" dirty="0" err="1" smtClean="0"/>
              <a:t>japa.parser.ast.body.ClassOrInterfaceDeclaration</a:t>
            </a:r>
            <a:r>
              <a:rPr lang="en-US" dirty="0" smtClean="0"/>
              <a:t> was used to log method instantiation and calls to generate a report with Caller Method and </a:t>
            </a:r>
            <a:r>
              <a:rPr lang="en-US" dirty="0" err="1" smtClean="0"/>
              <a:t>Calee</a:t>
            </a:r>
            <a:r>
              <a:rPr lang="en-US" dirty="0" smtClean="0"/>
              <a:t> Method.</a:t>
            </a:r>
            <a:endParaRPr lang="en-US" dirty="0"/>
          </a:p>
        </p:txBody>
      </p:sp>
      <p:pic>
        <p:nvPicPr>
          <p:cNvPr id="4" name="Picture 3"/>
          <p:cNvPicPr>
            <a:picLocks noChangeAspect="1"/>
          </p:cNvPicPr>
          <p:nvPr/>
        </p:nvPicPr>
        <p:blipFill>
          <a:blip r:embed="rId2"/>
          <a:stretch>
            <a:fillRect/>
          </a:stretch>
        </p:blipFill>
        <p:spPr>
          <a:xfrm>
            <a:off x="287863" y="3204633"/>
            <a:ext cx="8583663" cy="2755900"/>
          </a:xfrm>
          <a:prstGeom prst="rect">
            <a:avLst/>
          </a:prstGeom>
          <a:ln w="19050" cmpd="sng">
            <a:solidFill>
              <a:srgbClr val="990000"/>
            </a:solidFill>
          </a:ln>
        </p:spPr>
      </p:pic>
    </p:spTree>
    <p:extLst>
      <p:ext uri="{BB962C8B-B14F-4D97-AF65-F5344CB8AC3E}">
        <p14:creationId xmlns:p14="http://schemas.microsoft.com/office/powerpoint/2010/main" val="1971202406"/>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402166"/>
            <a:ext cx="7247467" cy="1143000"/>
          </a:xfrm>
        </p:spPr>
        <p:txBody>
          <a:bodyPr/>
          <a:lstStyle/>
          <a:p>
            <a:r>
              <a:rPr lang="en-US" dirty="0" smtClean="0"/>
              <a:t>Phase 2: Method Readability</a:t>
            </a:r>
            <a:endParaRPr lang="en-US" dirty="0"/>
          </a:p>
        </p:txBody>
      </p:sp>
      <p:sp>
        <p:nvSpPr>
          <p:cNvPr id="3" name="Content Placeholder 2"/>
          <p:cNvSpPr>
            <a:spLocks noGrp="1"/>
          </p:cNvSpPr>
          <p:nvPr>
            <p:ph idx="1"/>
          </p:nvPr>
        </p:nvSpPr>
        <p:spPr>
          <a:xfrm>
            <a:off x="457199" y="1964268"/>
            <a:ext cx="8466668" cy="4161896"/>
          </a:xfrm>
        </p:spPr>
        <p:txBody>
          <a:bodyPr/>
          <a:lstStyle/>
          <a:p>
            <a:r>
              <a:rPr lang="en-US" dirty="0" smtClean="0"/>
              <a:t>Java code was customized to use the report from Task 2 to calculate the readability of each method based on line numbers of variable declaration and use.</a:t>
            </a:r>
          </a:p>
          <a:p>
            <a:r>
              <a:rPr lang="en-US" dirty="0" smtClean="0"/>
              <a:t>In this, the readability of variables is determined by the Concreteness Ratings file by </a:t>
            </a:r>
            <a:r>
              <a:rPr lang="en-US" dirty="0" err="1" smtClean="0"/>
              <a:t>Brysbaert</a:t>
            </a:r>
            <a:r>
              <a:rPr lang="en-US" dirty="0" smtClean="0"/>
              <a:t>. </a:t>
            </a:r>
          </a:p>
          <a:p>
            <a:r>
              <a:rPr lang="en-US" dirty="0" smtClean="0"/>
              <a:t> Then, the </a:t>
            </a:r>
            <a:r>
              <a:rPr lang="en-US" dirty="0"/>
              <a:t>readability </a:t>
            </a:r>
            <a:r>
              <a:rPr lang="en-US" dirty="0" smtClean="0"/>
              <a:t>is divided by the average distance of variable declare and use.</a:t>
            </a:r>
          </a:p>
          <a:p>
            <a:r>
              <a:rPr lang="en-US" dirty="0" smtClean="0"/>
              <a:t>Lastly, the </a:t>
            </a:r>
            <a:r>
              <a:rPr lang="en-US" dirty="0"/>
              <a:t>readability </a:t>
            </a:r>
            <a:r>
              <a:rPr lang="en-US" dirty="0" smtClean="0"/>
              <a:t>of a method is evaluated as the average readability of the set of variables defined in that method.</a:t>
            </a:r>
            <a:endParaRPr lang="en-US" dirty="0"/>
          </a:p>
        </p:txBody>
      </p:sp>
    </p:spTree>
    <p:extLst>
      <p:ext uri="{BB962C8B-B14F-4D97-AF65-F5344CB8AC3E}">
        <p14:creationId xmlns:p14="http://schemas.microsoft.com/office/powerpoint/2010/main" val="3959109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Readability of Variables</a:t>
            </a:r>
            <a:endParaRPr lang="en-US" dirty="0"/>
          </a:p>
        </p:txBody>
      </p:sp>
      <p:sp>
        <p:nvSpPr>
          <p:cNvPr id="3" name="Content Placeholder 2"/>
          <p:cNvSpPr>
            <a:spLocks noGrp="1"/>
          </p:cNvSpPr>
          <p:nvPr>
            <p:ph idx="1"/>
          </p:nvPr>
        </p:nvSpPr>
        <p:spPr>
          <a:xfrm>
            <a:off x="457199" y="2209800"/>
            <a:ext cx="8077201" cy="3916363"/>
          </a:xfrm>
        </p:spPr>
        <p:txBody>
          <a:bodyPr/>
          <a:lstStyle/>
          <a:p>
            <a:r>
              <a:rPr lang="en-US" dirty="0"/>
              <a:t> The </a:t>
            </a:r>
            <a:r>
              <a:rPr lang="en-US" dirty="0" err="1"/>
              <a:t>Brysbaert</a:t>
            </a:r>
            <a:r>
              <a:rPr lang="en-US" dirty="0"/>
              <a:t> concreteness ratings excel file consists of 40,000 common words and their concreteness </a:t>
            </a:r>
            <a:r>
              <a:rPr lang="en-US" dirty="0" smtClean="0"/>
              <a:t>rating </a:t>
            </a:r>
            <a:r>
              <a:rPr lang="en-US" dirty="0"/>
              <a:t>based on a 0-5 scale.</a:t>
            </a:r>
          </a:p>
          <a:p>
            <a:r>
              <a:rPr lang="en-US" dirty="0" smtClean="0"/>
              <a:t>The readability of variables is determined by splitting variables into words based on hyphens, underscores and camel notations.</a:t>
            </a:r>
          </a:p>
          <a:p>
            <a:r>
              <a:rPr lang="en-US" dirty="0" smtClean="0"/>
              <a:t>The split words’ ratings are determined and the average of them becomes the readability of the variable.</a:t>
            </a:r>
            <a:endParaRPr lang="en-US" dirty="0"/>
          </a:p>
        </p:txBody>
      </p:sp>
    </p:spTree>
    <p:extLst>
      <p:ext uri="{BB962C8B-B14F-4D97-AF65-F5344CB8AC3E}">
        <p14:creationId xmlns:p14="http://schemas.microsoft.com/office/powerpoint/2010/main" val="3907541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3</a:t>
            </a:r>
            <a:r>
              <a:rPr lang="en-US" dirty="0" smtClean="0"/>
              <a:t>: </a:t>
            </a:r>
            <a:br>
              <a:rPr lang="en-US" dirty="0" smtClean="0"/>
            </a:br>
            <a:r>
              <a:rPr lang="en-US" dirty="0" smtClean="0"/>
              <a:t>Determining Concreteness</a:t>
            </a:r>
            <a:endParaRPr lang="en-US" dirty="0"/>
          </a:p>
        </p:txBody>
      </p:sp>
      <p:sp>
        <p:nvSpPr>
          <p:cNvPr id="3" name="Content Placeholder 2"/>
          <p:cNvSpPr>
            <a:spLocks noGrp="1"/>
          </p:cNvSpPr>
          <p:nvPr>
            <p:ph idx="1"/>
          </p:nvPr>
        </p:nvSpPr>
        <p:spPr/>
        <p:txBody>
          <a:bodyPr/>
          <a:lstStyle/>
          <a:p>
            <a:r>
              <a:rPr lang="en-US" dirty="0" smtClean="0"/>
              <a:t>Algorithm for Concreteness of Software Code:</a:t>
            </a:r>
          </a:p>
          <a:p>
            <a:pPr marL="0" indent="0">
              <a:buNone/>
            </a:pPr>
            <a:endParaRPr lang="en-US" dirty="0"/>
          </a:p>
        </p:txBody>
      </p:sp>
      <p:pic>
        <p:nvPicPr>
          <p:cNvPr id="4" name="Picture 3"/>
          <p:cNvPicPr>
            <a:picLocks noChangeAspect="1"/>
          </p:cNvPicPr>
          <p:nvPr/>
        </p:nvPicPr>
        <p:blipFill>
          <a:blip r:embed="rId2"/>
          <a:stretch>
            <a:fillRect/>
          </a:stretch>
        </p:blipFill>
        <p:spPr>
          <a:xfrm>
            <a:off x="457199" y="2777066"/>
            <a:ext cx="8264601" cy="3006837"/>
          </a:xfrm>
          <a:prstGeom prst="rect">
            <a:avLst/>
          </a:prstGeom>
          <a:ln>
            <a:solidFill>
              <a:srgbClr val="990000"/>
            </a:solidFill>
          </a:ln>
        </p:spPr>
      </p:pic>
    </p:spTree>
    <p:extLst>
      <p:ext uri="{BB962C8B-B14F-4D97-AF65-F5344CB8AC3E}">
        <p14:creationId xmlns:p14="http://schemas.microsoft.com/office/powerpoint/2010/main" val="227979126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18533"/>
            <a:ext cx="6508377" cy="1143000"/>
          </a:xfrm>
        </p:spPr>
        <p:txBody>
          <a:bodyPr/>
          <a:lstStyle/>
          <a:p>
            <a:r>
              <a:rPr lang="en-US" dirty="0" smtClean="0"/>
              <a:t>Demonstration of Algorithm</a:t>
            </a:r>
            <a:endParaRPr lang="en-US" dirty="0"/>
          </a:p>
        </p:txBody>
      </p:sp>
      <p:pic>
        <p:nvPicPr>
          <p:cNvPr id="5" name="Picture 4"/>
          <p:cNvPicPr>
            <a:picLocks noChangeAspect="1"/>
          </p:cNvPicPr>
          <p:nvPr/>
        </p:nvPicPr>
        <p:blipFill>
          <a:blip r:embed="rId2"/>
          <a:stretch>
            <a:fillRect/>
          </a:stretch>
        </p:blipFill>
        <p:spPr>
          <a:xfrm>
            <a:off x="1174375" y="2906517"/>
            <a:ext cx="6350001" cy="2088816"/>
          </a:xfrm>
          <a:prstGeom prst="rect">
            <a:avLst/>
          </a:prstGeom>
        </p:spPr>
      </p:pic>
      <p:pic>
        <p:nvPicPr>
          <p:cNvPr id="6" name="Picture 5"/>
          <p:cNvPicPr>
            <a:picLocks noChangeAspect="1"/>
          </p:cNvPicPr>
          <p:nvPr/>
        </p:nvPicPr>
        <p:blipFill>
          <a:blip r:embed="rId3"/>
          <a:stretch>
            <a:fillRect/>
          </a:stretch>
        </p:blipFill>
        <p:spPr>
          <a:xfrm>
            <a:off x="1049865" y="4961467"/>
            <a:ext cx="6819900" cy="1270000"/>
          </a:xfrm>
          <a:prstGeom prst="rect">
            <a:avLst/>
          </a:prstGeom>
          <a:ln>
            <a:solidFill>
              <a:srgbClr val="990000"/>
            </a:solidFill>
          </a:ln>
        </p:spPr>
      </p:pic>
      <p:pic>
        <p:nvPicPr>
          <p:cNvPr id="7" name="Picture 6"/>
          <p:cNvPicPr>
            <a:picLocks noChangeAspect="1"/>
          </p:cNvPicPr>
          <p:nvPr/>
        </p:nvPicPr>
        <p:blipFill>
          <a:blip r:embed="rId4"/>
          <a:stretch>
            <a:fillRect/>
          </a:stretch>
        </p:blipFill>
        <p:spPr>
          <a:xfrm>
            <a:off x="1618876" y="1932850"/>
            <a:ext cx="5905500" cy="990600"/>
          </a:xfrm>
          <a:prstGeom prst="rect">
            <a:avLst/>
          </a:prstGeom>
          <a:ln>
            <a:solidFill>
              <a:srgbClr val="990000"/>
            </a:solidFill>
          </a:ln>
        </p:spPr>
      </p:pic>
    </p:spTree>
    <p:extLst>
      <p:ext uri="{BB962C8B-B14F-4D97-AF65-F5344CB8AC3E}">
        <p14:creationId xmlns:p14="http://schemas.microsoft.com/office/powerpoint/2010/main" val="2238944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0"/>
            <a:ext cx="6508377" cy="1143000"/>
          </a:xfrm>
        </p:spPr>
        <p:txBody>
          <a:bodyPr/>
          <a:lstStyle/>
          <a:p>
            <a:r>
              <a:rPr lang="en-US" dirty="0" smtClean="0"/>
              <a:t>Results: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7589459"/>
              </p:ext>
            </p:extLst>
          </p:nvPr>
        </p:nvGraphicFramePr>
        <p:xfrm>
          <a:off x="457199" y="1159933"/>
          <a:ext cx="7078135" cy="5135880"/>
        </p:xfrm>
        <a:graphic>
          <a:graphicData uri="http://schemas.openxmlformats.org/drawingml/2006/table">
            <a:tbl>
              <a:tblPr firstRow="1" bandRow="1">
                <a:tableStyleId>{5C22544A-7EE6-4342-B048-85BDC9FD1C3A}</a:tableStyleId>
              </a:tblPr>
              <a:tblGrid>
                <a:gridCol w="1899315"/>
                <a:gridCol w="1741353"/>
                <a:gridCol w="1632442"/>
                <a:gridCol w="1805025"/>
              </a:tblGrid>
              <a:tr h="370840">
                <a:tc>
                  <a:txBody>
                    <a:bodyPr/>
                    <a:lstStyle/>
                    <a:p>
                      <a:r>
                        <a:rPr lang="en-US" sz="1600" b="0" dirty="0" smtClean="0"/>
                        <a:t>Project</a:t>
                      </a:r>
                      <a:r>
                        <a:rPr lang="en-US" sz="1600" b="0" baseline="0" dirty="0" smtClean="0"/>
                        <a:t> Name</a:t>
                      </a:r>
                      <a:endParaRPr lang="en-US" sz="1600" b="0" dirty="0"/>
                    </a:p>
                  </a:txBody>
                  <a:tcPr/>
                </a:tc>
                <a:tc>
                  <a:txBody>
                    <a:bodyPr/>
                    <a:lstStyle/>
                    <a:p>
                      <a:r>
                        <a:rPr lang="en-US" b="0" dirty="0" smtClean="0"/>
                        <a:t>Description</a:t>
                      </a:r>
                      <a:endParaRPr lang="en-US" b="0" dirty="0"/>
                    </a:p>
                  </a:txBody>
                  <a:tcPr/>
                </a:tc>
                <a:tc>
                  <a:txBody>
                    <a:bodyPr/>
                    <a:lstStyle/>
                    <a:p>
                      <a:r>
                        <a:rPr lang="en-US" b="0" dirty="0" smtClean="0"/>
                        <a:t>Readability</a:t>
                      </a:r>
                      <a:endParaRPr lang="en-US" b="0" dirty="0"/>
                    </a:p>
                  </a:txBody>
                  <a:tcPr/>
                </a:tc>
                <a:tc>
                  <a:txBody>
                    <a:bodyPr/>
                    <a:lstStyle/>
                    <a:p>
                      <a:r>
                        <a:rPr lang="en-US" b="0" dirty="0" smtClean="0"/>
                        <a:t>Lines</a:t>
                      </a:r>
                      <a:r>
                        <a:rPr lang="en-US" b="0" baseline="0" dirty="0" smtClean="0"/>
                        <a:t> of Code x 1000</a:t>
                      </a:r>
                      <a:endParaRPr lang="en-US" b="0" dirty="0"/>
                    </a:p>
                  </a:txBody>
                  <a:tcPr/>
                </a:tc>
              </a:tr>
              <a:tr h="370840">
                <a:tc>
                  <a:txBody>
                    <a:bodyPr/>
                    <a:lstStyle/>
                    <a:p>
                      <a:r>
                        <a:rPr lang="en-US" b="0" dirty="0" err="1" smtClean="0"/>
                        <a:t>Avuze</a:t>
                      </a:r>
                      <a:endParaRPr lang="en-US" b="0" dirty="0"/>
                    </a:p>
                  </a:txBody>
                  <a:tcPr/>
                </a:tc>
                <a:tc>
                  <a:txBody>
                    <a:bodyPr/>
                    <a:lstStyle/>
                    <a:p>
                      <a:r>
                        <a:rPr lang="en-US" sz="1600" b="0" dirty="0" smtClean="0"/>
                        <a:t>P2P</a:t>
                      </a:r>
                      <a:r>
                        <a:rPr lang="en-US" sz="1600" b="0" baseline="0" dirty="0" smtClean="0"/>
                        <a:t> File Share</a:t>
                      </a:r>
                      <a:endParaRPr lang="en-US" sz="1600" b="0" dirty="0"/>
                    </a:p>
                  </a:txBody>
                  <a:tcPr/>
                </a:tc>
                <a:tc>
                  <a:txBody>
                    <a:bodyPr/>
                    <a:lstStyle/>
                    <a:p>
                      <a:r>
                        <a:rPr lang="en-US" b="0" dirty="0" smtClean="0"/>
                        <a:t>1.996</a:t>
                      </a:r>
                      <a:endParaRPr lang="en-US" b="0" dirty="0"/>
                    </a:p>
                  </a:txBody>
                  <a:tcPr/>
                </a:tc>
                <a:tc>
                  <a:txBody>
                    <a:bodyPr/>
                    <a:lstStyle/>
                    <a:p>
                      <a:r>
                        <a:rPr lang="en-US" b="0" dirty="0" smtClean="0"/>
                        <a:t>201.994</a:t>
                      </a:r>
                      <a:endParaRPr lang="en-US" b="0" dirty="0"/>
                    </a:p>
                  </a:txBody>
                  <a:tcPr/>
                </a:tc>
              </a:tr>
              <a:tr h="370840">
                <a:tc>
                  <a:txBody>
                    <a:bodyPr/>
                    <a:lstStyle/>
                    <a:p>
                      <a:r>
                        <a:rPr lang="en-US" b="0" dirty="0" err="1" smtClean="0"/>
                        <a:t>Xholon</a:t>
                      </a:r>
                      <a:endParaRPr lang="en-US" b="0" dirty="0"/>
                    </a:p>
                  </a:txBody>
                  <a:tcPr/>
                </a:tc>
                <a:tc>
                  <a:txBody>
                    <a:bodyPr/>
                    <a:lstStyle/>
                    <a:p>
                      <a:r>
                        <a:rPr lang="en-US" sz="1600" b="0" dirty="0" smtClean="0"/>
                        <a:t>Simulator</a:t>
                      </a:r>
                      <a:endParaRPr lang="en-US" sz="1600" b="0" dirty="0"/>
                    </a:p>
                  </a:txBody>
                  <a:tcPr/>
                </a:tc>
                <a:tc>
                  <a:txBody>
                    <a:bodyPr/>
                    <a:lstStyle/>
                    <a:p>
                      <a:r>
                        <a:rPr lang="en-US" b="0" dirty="0" smtClean="0"/>
                        <a:t>1.831</a:t>
                      </a:r>
                      <a:endParaRPr lang="en-US" b="0" dirty="0"/>
                    </a:p>
                  </a:txBody>
                  <a:tcPr/>
                </a:tc>
                <a:tc>
                  <a:txBody>
                    <a:bodyPr/>
                    <a:lstStyle/>
                    <a:p>
                      <a:r>
                        <a:rPr lang="en-US" b="0" dirty="0" smtClean="0"/>
                        <a:t>21.288</a:t>
                      </a:r>
                      <a:endParaRPr lang="en-US" b="0" dirty="0"/>
                    </a:p>
                  </a:txBody>
                  <a:tcPr/>
                </a:tc>
              </a:tr>
              <a:tr h="370840">
                <a:tc>
                  <a:txBody>
                    <a:bodyPr/>
                    <a:lstStyle/>
                    <a:p>
                      <a:r>
                        <a:rPr lang="en-US" b="0" dirty="0" err="1" smtClean="0"/>
                        <a:t>soapUI</a:t>
                      </a:r>
                      <a:endParaRPr lang="en-US" b="0" dirty="0"/>
                    </a:p>
                  </a:txBody>
                  <a:tcPr/>
                </a:tc>
                <a:tc>
                  <a:txBody>
                    <a:bodyPr/>
                    <a:lstStyle/>
                    <a:p>
                      <a:r>
                        <a:rPr lang="en-US" sz="1600" b="0" dirty="0" smtClean="0"/>
                        <a:t>Web App</a:t>
                      </a:r>
                      <a:endParaRPr lang="en-US" sz="1600" b="0" dirty="0"/>
                    </a:p>
                  </a:txBody>
                  <a:tcPr/>
                </a:tc>
                <a:tc>
                  <a:txBody>
                    <a:bodyPr/>
                    <a:lstStyle/>
                    <a:p>
                      <a:r>
                        <a:rPr lang="en-US" b="0" dirty="0" smtClean="0"/>
                        <a:t>2.293</a:t>
                      </a:r>
                      <a:endParaRPr lang="en-US" b="0" dirty="0"/>
                    </a:p>
                  </a:txBody>
                  <a:tcPr/>
                </a:tc>
                <a:tc>
                  <a:txBody>
                    <a:bodyPr/>
                    <a:lstStyle/>
                    <a:p>
                      <a:r>
                        <a:rPr lang="en-US" b="0" dirty="0" smtClean="0"/>
                        <a:t>30.367</a:t>
                      </a:r>
                      <a:endParaRPr lang="en-US" b="0" dirty="0"/>
                    </a:p>
                  </a:txBody>
                  <a:tcPr/>
                </a:tc>
              </a:tr>
              <a:tr h="370840">
                <a:tc>
                  <a:txBody>
                    <a:bodyPr/>
                    <a:lstStyle/>
                    <a:p>
                      <a:r>
                        <a:rPr lang="en-US" b="0" dirty="0" err="1" smtClean="0"/>
                        <a:t>datacrow</a:t>
                      </a:r>
                      <a:endParaRPr lang="en-US" b="0" dirty="0"/>
                    </a:p>
                  </a:txBody>
                  <a:tcPr/>
                </a:tc>
                <a:tc>
                  <a:txBody>
                    <a:bodyPr/>
                    <a:lstStyle/>
                    <a:p>
                      <a:r>
                        <a:rPr lang="en-US" sz="1600" b="0" dirty="0" smtClean="0"/>
                        <a:t>Data Manager</a:t>
                      </a:r>
                      <a:endParaRPr lang="en-US" sz="1600" b="0" dirty="0"/>
                    </a:p>
                  </a:txBody>
                  <a:tcPr/>
                </a:tc>
                <a:tc>
                  <a:txBody>
                    <a:bodyPr/>
                    <a:lstStyle/>
                    <a:p>
                      <a:r>
                        <a:rPr lang="en-US" b="0" dirty="0" smtClean="0"/>
                        <a:t>1.897</a:t>
                      </a:r>
                      <a:endParaRPr lang="en-US" b="0" dirty="0"/>
                    </a:p>
                  </a:txBody>
                  <a:tcPr/>
                </a:tc>
                <a:tc>
                  <a:txBody>
                    <a:bodyPr/>
                    <a:lstStyle/>
                    <a:p>
                      <a:r>
                        <a:rPr lang="en-US" b="0" dirty="0" smtClean="0"/>
                        <a:t>19.548</a:t>
                      </a:r>
                      <a:endParaRPr lang="en-US" b="0" dirty="0"/>
                    </a:p>
                  </a:txBody>
                  <a:tcPr/>
                </a:tc>
              </a:tr>
              <a:tr h="370840">
                <a:tc>
                  <a:txBody>
                    <a:bodyPr/>
                    <a:lstStyle/>
                    <a:p>
                      <a:r>
                        <a:rPr lang="en-US" b="0" dirty="0" err="1" smtClean="0"/>
                        <a:t>Freecol</a:t>
                      </a:r>
                      <a:endParaRPr lang="en-US" b="0" dirty="0"/>
                    </a:p>
                  </a:txBody>
                  <a:tcPr/>
                </a:tc>
                <a:tc>
                  <a:txBody>
                    <a:bodyPr/>
                    <a:lstStyle/>
                    <a:p>
                      <a:r>
                        <a:rPr lang="en-US" sz="1600" b="0" dirty="0" smtClean="0"/>
                        <a:t>Game</a:t>
                      </a:r>
                      <a:endParaRPr lang="en-US" sz="1600" b="0" dirty="0"/>
                    </a:p>
                  </a:txBody>
                  <a:tcPr/>
                </a:tc>
                <a:tc>
                  <a:txBody>
                    <a:bodyPr/>
                    <a:lstStyle/>
                    <a:p>
                      <a:r>
                        <a:rPr lang="en-US" b="0" dirty="0" smtClean="0"/>
                        <a:t>2.208</a:t>
                      </a:r>
                      <a:endParaRPr lang="en-US" b="0" dirty="0"/>
                    </a:p>
                  </a:txBody>
                  <a:tcPr/>
                </a:tc>
                <a:tc>
                  <a:txBody>
                    <a:bodyPr/>
                    <a:lstStyle/>
                    <a:p>
                      <a:r>
                        <a:rPr lang="en-US" b="0" dirty="0" smtClean="0"/>
                        <a:t>29.751</a:t>
                      </a:r>
                      <a:endParaRPr lang="en-US" b="0" dirty="0"/>
                    </a:p>
                  </a:txBody>
                  <a:tcPr/>
                </a:tc>
              </a:tr>
              <a:tr h="370840">
                <a:tc>
                  <a:txBody>
                    <a:bodyPr/>
                    <a:lstStyle/>
                    <a:p>
                      <a:r>
                        <a:rPr lang="en-US" b="0" dirty="0" err="1" smtClean="0"/>
                        <a:t>jasperreports</a:t>
                      </a:r>
                      <a:endParaRPr lang="en-US" b="0" dirty="0"/>
                    </a:p>
                  </a:txBody>
                  <a:tcPr/>
                </a:tc>
                <a:tc>
                  <a:txBody>
                    <a:bodyPr/>
                    <a:lstStyle/>
                    <a:p>
                      <a:r>
                        <a:rPr lang="en-US" sz="1600" b="0" dirty="0" smtClean="0"/>
                        <a:t>Dynamic Content</a:t>
                      </a:r>
                      <a:endParaRPr lang="en-US" sz="1600" b="0" dirty="0"/>
                    </a:p>
                  </a:txBody>
                  <a:tcPr/>
                </a:tc>
                <a:tc>
                  <a:txBody>
                    <a:bodyPr/>
                    <a:lstStyle/>
                    <a:p>
                      <a:r>
                        <a:rPr lang="en-US" b="0" dirty="0" smtClean="0"/>
                        <a:t>2.596</a:t>
                      </a:r>
                      <a:endParaRPr lang="en-US" b="0" dirty="0"/>
                    </a:p>
                  </a:txBody>
                  <a:tcPr/>
                </a:tc>
                <a:tc>
                  <a:txBody>
                    <a:bodyPr/>
                    <a:lstStyle/>
                    <a:p>
                      <a:r>
                        <a:rPr lang="en-US" b="0" dirty="0" smtClean="0"/>
                        <a:t>33.403</a:t>
                      </a:r>
                      <a:endParaRPr lang="en-US" b="0" dirty="0"/>
                    </a:p>
                  </a:txBody>
                  <a:tcPr/>
                </a:tc>
              </a:tr>
              <a:tr h="370840">
                <a:tc>
                  <a:txBody>
                    <a:bodyPr/>
                    <a:lstStyle/>
                    <a:p>
                      <a:r>
                        <a:rPr lang="en-US" b="0" dirty="0" err="1" smtClean="0"/>
                        <a:t>Jmencode</a:t>
                      </a:r>
                      <a:endParaRPr lang="en-US" b="0" dirty="0"/>
                    </a:p>
                  </a:txBody>
                  <a:tcPr/>
                </a:tc>
                <a:tc>
                  <a:txBody>
                    <a:bodyPr/>
                    <a:lstStyle/>
                    <a:p>
                      <a:r>
                        <a:rPr lang="en-US" sz="1600" b="0" dirty="0" smtClean="0"/>
                        <a:t>Video Encoder</a:t>
                      </a:r>
                      <a:endParaRPr lang="en-US" sz="1600" b="0" dirty="0"/>
                    </a:p>
                  </a:txBody>
                  <a:tcPr/>
                </a:tc>
                <a:tc>
                  <a:txBody>
                    <a:bodyPr/>
                    <a:lstStyle/>
                    <a:p>
                      <a:r>
                        <a:rPr lang="en-US" b="0" dirty="0" smtClean="0"/>
                        <a:t>0.799</a:t>
                      </a:r>
                      <a:endParaRPr lang="en-US" b="0" dirty="0"/>
                    </a:p>
                  </a:txBody>
                  <a:tcPr/>
                </a:tc>
                <a:tc>
                  <a:txBody>
                    <a:bodyPr/>
                    <a:lstStyle/>
                    <a:p>
                      <a:r>
                        <a:rPr lang="en-US" b="0" dirty="0" smtClean="0"/>
                        <a:t>1.658</a:t>
                      </a:r>
                      <a:endParaRPr lang="en-US" b="0" dirty="0"/>
                    </a:p>
                  </a:txBody>
                  <a:tcPr/>
                </a:tc>
              </a:tr>
              <a:tr h="370840">
                <a:tc>
                  <a:txBody>
                    <a:bodyPr/>
                    <a:lstStyle/>
                    <a:p>
                      <a:r>
                        <a:rPr lang="en-US" b="0" dirty="0" err="1" smtClean="0"/>
                        <a:t>Jedit</a:t>
                      </a:r>
                      <a:endParaRPr lang="en-US" b="0" dirty="0"/>
                    </a:p>
                  </a:txBody>
                  <a:tcPr/>
                </a:tc>
                <a:tc>
                  <a:txBody>
                    <a:bodyPr/>
                    <a:lstStyle/>
                    <a:p>
                      <a:r>
                        <a:rPr lang="en-US" sz="1600" b="0" dirty="0" smtClean="0"/>
                        <a:t>Text</a:t>
                      </a:r>
                      <a:r>
                        <a:rPr lang="en-US" sz="1600" b="0" baseline="0" dirty="0" smtClean="0"/>
                        <a:t> Editor</a:t>
                      </a:r>
                      <a:endParaRPr lang="en-US" sz="1600" b="0" dirty="0"/>
                    </a:p>
                  </a:txBody>
                  <a:tcPr/>
                </a:tc>
                <a:tc>
                  <a:txBody>
                    <a:bodyPr/>
                    <a:lstStyle/>
                    <a:p>
                      <a:r>
                        <a:rPr lang="en-US" b="0" dirty="0" smtClean="0"/>
                        <a:t>1.923</a:t>
                      </a:r>
                      <a:endParaRPr lang="en-US" b="0" dirty="0"/>
                    </a:p>
                  </a:txBody>
                  <a:tcPr/>
                </a:tc>
                <a:tc>
                  <a:txBody>
                    <a:bodyPr/>
                    <a:lstStyle/>
                    <a:p>
                      <a:r>
                        <a:rPr lang="en-US" b="0" dirty="0" smtClean="0"/>
                        <a:t>35.602</a:t>
                      </a:r>
                      <a:endParaRPr lang="en-US" b="0" dirty="0"/>
                    </a:p>
                  </a:txBody>
                  <a:tcPr/>
                </a:tc>
              </a:tr>
              <a:tr h="370840">
                <a:tc>
                  <a:txBody>
                    <a:bodyPr/>
                    <a:lstStyle/>
                    <a:p>
                      <a:r>
                        <a:rPr lang="en-US" b="0" dirty="0" err="1" smtClean="0"/>
                        <a:t>Jsch</a:t>
                      </a:r>
                      <a:endParaRPr lang="en-US" b="0" dirty="0"/>
                    </a:p>
                  </a:txBody>
                  <a:tcPr/>
                </a:tc>
                <a:tc>
                  <a:txBody>
                    <a:bodyPr/>
                    <a:lstStyle/>
                    <a:p>
                      <a:r>
                        <a:rPr lang="en-US" sz="1600" b="0" dirty="0" smtClean="0"/>
                        <a:t>Security</a:t>
                      </a:r>
                      <a:endParaRPr lang="en-US" sz="1600" b="0" dirty="0"/>
                    </a:p>
                  </a:txBody>
                  <a:tcPr/>
                </a:tc>
                <a:tc>
                  <a:txBody>
                    <a:bodyPr/>
                    <a:lstStyle/>
                    <a:p>
                      <a:r>
                        <a:rPr lang="en-US" b="0" dirty="0" smtClean="0"/>
                        <a:t>1.583</a:t>
                      </a:r>
                      <a:endParaRPr lang="en-US" b="0" dirty="0"/>
                    </a:p>
                  </a:txBody>
                  <a:tcPr/>
                </a:tc>
                <a:tc>
                  <a:txBody>
                    <a:bodyPr/>
                    <a:lstStyle/>
                    <a:p>
                      <a:r>
                        <a:rPr lang="en-US" b="0" dirty="0" smtClean="0"/>
                        <a:t>9.44</a:t>
                      </a:r>
                      <a:endParaRPr lang="en-US" b="0" dirty="0"/>
                    </a:p>
                  </a:txBody>
                  <a:tcPr/>
                </a:tc>
              </a:tr>
              <a:tr h="370840">
                <a:tc>
                  <a:txBody>
                    <a:bodyPr/>
                    <a:lstStyle/>
                    <a:p>
                      <a:r>
                        <a:rPr lang="en-US" b="0" dirty="0" err="1" smtClean="0"/>
                        <a:t>Junit</a:t>
                      </a:r>
                      <a:endParaRPr lang="en-US" b="0" dirty="0"/>
                    </a:p>
                  </a:txBody>
                  <a:tcPr/>
                </a:tc>
                <a:tc>
                  <a:txBody>
                    <a:bodyPr/>
                    <a:lstStyle/>
                    <a:p>
                      <a:r>
                        <a:rPr lang="en-US" sz="1600" b="0" dirty="0" smtClean="0"/>
                        <a:t>Software Testing</a:t>
                      </a:r>
                      <a:endParaRPr lang="en-US" sz="1600" b="0" dirty="0"/>
                    </a:p>
                  </a:txBody>
                  <a:tcPr/>
                </a:tc>
                <a:tc>
                  <a:txBody>
                    <a:bodyPr/>
                    <a:lstStyle/>
                    <a:p>
                      <a:r>
                        <a:rPr lang="en-US" b="0" dirty="0" smtClean="0"/>
                        <a:t>2.056</a:t>
                      </a:r>
                      <a:endParaRPr lang="en-US" b="0" dirty="0"/>
                    </a:p>
                  </a:txBody>
                  <a:tcPr/>
                </a:tc>
                <a:tc>
                  <a:txBody>
                    <a:bodyPr/>
                    <a:lstStyle/>
                    <a:p>
                      <a:r>
                        <a:rPr lang="en-US" b="0" dirty="0" smtClean="0"/>
                        <a:t>0.996</a:t>
                      </a:r>
                      <a:endParaRPr lang="en-US" b="0" dirty="0"/>
                    </a:p>
                  </a:txBody>
                  <a:tcPr/>
                </a:tc>
              </a:tr>
              <a:tr h="370840">
                <a:tc>
                  <a:txBody>
                    <a:bodyPr/>
                    <a:lstStyle/>
                    <a:p>
                      <a:r>
                        <a:rPr lang="en-US" b="0" dirty="0" err="1" smtClean="0"/>
                        <a:t>ganttproject</a:t>
                      </a:r>
                      <a:endParaRPr lang="en-US" b="0" dirty="0"/>
                    </a:p>
                  </a:txBody>
                  <a:tcPr/>
                </a:tc>
                <a:tc>
                  <a:txBody>
                    <a:bodyPr/>
                    <a:lstStyle/>
                    <a:p>
                      <a:r>
                        <a:rPr lang="en-US" sz="1600" b="0" dirty="0" smtClean="0"/>
                        <a:t>Scheduling</a:t>
                      </a:r>
                      <a:endParaRPr lang="en-US" sz="1600" b="0" dirty="0"/>
                    </a:p>
                  </a:txBody>
                  <a:tcPr/>
                </a:tc>
                <a:tc>
                  <a:txBody>
                    <a:bodyPr/>
                    <a:lstStyle/>
                    <a:p>
                      <a:r>
                        <a:rPr lang="en-US" b="0" dirty="0" smtClean="0"/>
                        <a:t>1.932</a:t>
                      </a:r>
                      <a:endParaRPr lang="en-US" b="0" dirty="0"/>
                    </a:p>
                  </a:txBody>
                  <a:tcPr/>
                </a:tc>
                <a:tc>
                  <a:txBody>
                    <a:bodyPr/>
                    <a:lstStyle/>
                    <a:p>
                      <a:r>
                        <a:rPr lang="en-US" b="0" dirty="0" smtClean="0"/>
                        <a:t>30.096</a:t>
                      </a:r>
                      <a:endParaRPr lang="en-US" b="0" dirty="0"/>
                    </a:p>
                  </a:txBody>
                  <a:tcPr/>
                </a:tc>
              </a:tr>
            </a:tbl>
          </a:graphicData>
        </a:graphic>
      </p:graphicFrame>
    </p:spTree>
    <p:extLst>
      <p:ext uri="{BB962C8B-B14F-4D97-AF65-F5344CB8AC3E}">
        <p14:creationId xmlns:p14="http://schemas.microsoft.com/office/powerpoint/2010/main" val="1716579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Technical Approach</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60681654"/>
              </p:ext>
            </p:extLst>
          </p:nvPr>
        </p:nvGraphicFramePr>
        <p:xfrm>
          <a:off x="707442" y="2064994"/>
          <a:ext cx="4493507" cy="37127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p:cNvGrpSpPr/>
          <p:nvPr/>
        </p:nvGrpSpPr>
        <p:grpSpPr>
          <a:xfrm>
            <a:off x="457199" y="6144381"/>
            <a:ext cx="1712153" cy="580413"/>
            <a:chOff x="4358377" y="1010834"/>
            <a:chExt cx="1669398" cy="1335518"/>
          </a:xfrm>
        </p:grpSpPr>
        <p:sp>
          <p:nvSpPr>
            <p:cNvPr id="9" name="Rounded Rectangle 8"/>
            <p:cNvSpPr/>
            <p:nvPr/>
          </p:nvSpPr>
          <p:spPr>
            <a:xfrm>
              <a:off x="4358377" y="1010834"/>
              <a:ext cx="1669398" cy="1335518"/>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0" name="Rounded Rectangle 4"/>
            <p:cNvSpPr/>
            <p:nvPr/>
          </p:nvSpPr>
          <p:spPr>
            <a:xfrm>
              <a:off x="4397493" y="1049950"/>
              <a:ext cx="1591166" cy="12572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t>Phase 3</a:t>
              </a:r>
              <a:endParaRPr lang="en-US" sz="2700" kern="1200" dirty="0"/>
            </a:p>
          </p:txBody>
        </p:sp>
      </p:grpSp>
      <p:grpSp>
        <p:nvGrpSpPr>
          <p:cNvPr id="11" name="Group 10"/>
          <p:cNvGrpSpPr/>
          <p:nvPr/>
        </p:nvGrpSpPr>
        <p:grpSpPr>
          <a:xfrm rot="16200000">
            <a:off x="1191255" y="5601161"/>
            <a:ext cx="303481" cy="530801"/>
            <a:chOff x="2255831" y="1692621"/>
            <a:chExt cx="303481" cy="530801"/>
          </a:xfrm>
        </p:grpSpPr>
        <p:sp>
          <p:nvSpPr>
            <p:cNvPr id="12" name="Right Arrow 11"/>
            <p:cNvSpPr/>
            <p:nvPr/>
          </p:nvSpPr>
          <p:spPr>
            <a:xfrm rot="21599458">
              <a:off x="2255831" y="1692621"/>
              <a:ext cx="303481" cy="530801"/>
            </a:xfrm>
            <a:prstGeom prst="rightArrow">
              <a:avLst>
                <a:gd name="adj1" fmla="val 60000"/>
                <a:gd name="adj2" fmla="val 5000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2">
              <a:schemeClr val="accent1">
                <a:tint val="60000"/>
                <a:hueOff val="0"/>
                <a:satOff val="0"/>
                <a:lumOff val="0"/>
                <a:alphaOff val="0"/>
              </a:schemeClr>
            </a:effectRef>
            <a:fontRef idx="minor">
              <a:schemeClr val="lt1"/>
            </a:fontRef>
          </p:style>
        </p:sp>
        <p:sp>
          <p:nvSpPr>
            <p:cNvPr id="13" name="Right Arrow 4"/>
            <p:cNvSpPr/>
            <p:nvPr/>
          </p:nvSpPr>
          <p:spPr>
            <a:xfrm rot="21599458">
              <a:off x="2255831" y="1798788"/>
              <a:ext cx="212437" cy="3184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p>
          </p:txBody>
        </p:sp>
      </p:grpSp>
      <p:grpSp>
        <p:nvGrpSpPr>
          <p:cNvPr id="14" name="Group 13"/>
          <p:cNvGrpSpPr/>
          <p:nvPr/>
        </p:nvGrpSpPr>
        <p:grpSpPr>
          <a:xfrm>
            <a:off x="5120494" y="3516007"/>
            <a:ext cx="821393" cy="530801"/>
            <a:chOff x="2255831" y="1692621"/>
            <a:chExt cx="303481" cy="530801"/>
          </a:xfrm>
        </p:grpSpPr>
        <p:sp>
          <p:nvSpPr>
            <p:cNvPr id="15" name="Right Arrow 14"/>
            <p:cNvSpPr/>
            <p:nvPr/>
          </p:nvSpPr>
          <p:spPr>
            <a:xfrm rot="21599458">
              <a:off x="2255831" y="1692621"/>
              <a:ext cx="303481" cy="530801"/>
            </a:xfrm>
            <a:prstGeom prst="mathEqual">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2">
              <a:schemeClr val="accent1">
                <a:tint val="60000"/>
                <a:hueOff val="0"/>
                <a:satOff val="0"/>
                <a:lumOff val="0"/>
                <a:alphaOff val="0"/>
              </a:schemeClr>
            </a:effectRef>
            <a:fontRef idx="minor">
              <a:schemeClr val="lt1"/>
            </a:fontRef>
          </p:style>
        </p:sp>
        <p:sp>
          <p:nvSpPr>
            <p:cNvPr id="16" name="Right Arrow 4"/>
            <p:cNvSpPr/>
            <p:nvPr/>
          </p:nvSpPr>
          <p:spPr>
            <a:xfrm rot="21599458">
              <a:off x="2255831" y="1798788"/>
              <a:ext cx="212437" cy="318481"/>
            </a:xfrm>
            <a:prstGeom prst="mathEqual">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p>
          </p:txBody>
        </p:sp>
      </p:grpSp>
      <p:grpSp>
        <p:nvGrpSpPr>
          <p:cNvPr id="17" name="Group 16"/>
          <p:cNvGrpSpPr/>
          <p:nvPr/>
        </p:nvGrpSpPr>
        <p:grpSpPr>
          <a:xfrm>
            <a:off x="5840636" y="2547771"/>
            <a:ext cx="3303363" cy="2492492"/>
            <a:chOff x="1749872" y="609747"/>
            <a:chExt cx="2492492" cy="2492492"/>
          </a:xfrm>
        </p:grpSpPr>
        <p:sp>
          <p:nvSpPr>
            <p:cNvPr id="18" name="Oval 17"/>
            <p:cNvSpPr/>
            <p:nvPr/>
          </p:nvSpPr>
          <p:spPr>
            <a:xfrm>
              <a:off x="1749872" y="609747"/>
              <a:ext cx="2492492" cy="2492492"/>
            </a:xfrm>
            <a:prstGeom prst="irregularSeal1">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9" name="Oval 4"/>
            <p:cNvSpPr/>
            <p:nvPr/>
          </p:nvSpPr>
          <p:spPr>
            <a:xfrm>
              <a:off x="2114889" y="974764"/>
              <a:ext cx="1762458" cy="1762458"/>
            </a:xfrm>
            <a:prstGeom prst="irregularSeal1">
              <a:avLst/>
            </a:prstGeom>
          </p:spPr>
          <p:style>
            <a:lnRef idx="0">
              <a:scrgbClr r="0" g="0" b="0"/>
            </a:lnRef>
            <a:fillRef idx="0">
              <a:scrgbClr r="0" g="0" b="0"/>
            </a:fillRef>
            <a:effectRef idx="0">
              <a:scrgbClr r="0" g="0" b="0"/>
            </a:effectRef>
            <a:fontRef idx="minor">
              <a:schemeClr val="lt1"/>
            </a:fontRef>
          </p:style>
          <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dirty="0" smtClean="0"/>
                <a:t>Success</a:t>
              </a:r>
            </a:p>
          </p:txBody>
        </p:sp>
      </p:grpSp>
    </p:spTree>
    <p:extLst>
      <p:ext uri="{BB962C8B-B14F-4D97-AF65-F5344CB8AC3E}">
        <p14:creationId xmlns:p14="http://schemas.microsoft.com/office/powerpoint/2010/main" val="1916656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Measures of Success</a:t>
            </a:r>
            <a:endParaRPr lang="en-US" dirty="0"/>
          </a:p>
        </p:txBody>
      </p:sp>
      <p:sp>
        <p:nvSpPr>
          <p:cNvPr id="3" name="Content Placeholder 2"/>
          <p:cNvSpPr>
            <a:spLocks noGrp="1"/>
          </p:cNvSpPr>
          <p:nvPr>
            <p:ph idx="1"/>
          </p:nvPr>
        </p:nvSpPr>
        <p:spPr>
          <a:xfrm>
            <a:off x="457200" y="2209800"/>
            <a:ext cx="6951133" cy="3916363"/>
          </a:xfrm>
        </p:spPr>
        <p:txBody>
          <a:bodyPr/>
          <a:lstStyle/>
          <a:p>
            <a:pPr marL="171450" indent="-171450">
              <a:buFontTx/>
              <a:buChar char="•"/>
            </a:pPr>
            <a:r>
              <a:rPr lang="en-US" dirty="0" smtClean="0"/>
              <a:t>Development of the </a:t>
            </a:r>
            <a:r>
              <a:rPr lang="en-US" dirty="0"/>
              <a:t>algorithm/measurement </a:t>
            </a:r>
            <a:r>
              <a:rPr lang="en-US" dirty="0" smtClean="0"/>
              <a:t>to gather data from various open source code. </a:t>
            </a:r>
            <a:endParaRPr lang="en-US" dirty="0"/>
          </a:p>
          <a:p>
            <a:pPr marL="171450" indent="-171450">
              <a:buFontTx/>
              <a:buChar char="•"/>
            </a:pPr>
            <a:r>
              <a:rPr lang="en-US" dirty="0" smtClean="0"/>
              <a:t>Demonstration of </a:t>
            </a:r>
            <a:r>
              <a:rPr lang="en-US" dirty="0"/>
              <a:t>the correlation b/w objective data and subjective data</a:t>
            </a:r>
            <a:r>
              <a:rPr lang="en-US" dirty="0" smtClean="0"/>
              <a:t>.</a:t>
            </a:r>
            <a:endParaRPr lang="en-US" dirty="0"/>
          </a:p>
          <a:p>
            <a:pPr marL="171450" indent="-171450">
              <a:buFontTx/>
              <a:buChar char="•"/>
            </a:pPr>
            <a:r>
              <a:rPr lang="en-US" dirty="0"/>
              <a:t>T</a:t>
            </a:r>
            <a:r>
              <a:rPr lang="en-US" dirty="0" smtClean="0"/>
              <a:t>he </a:t>
            </a:r>
            <a:r>
              <a:rPr lang="en-US" dirty="0"/>
              <a:t>testing and </a:t>
            </a:r>
            <a:r>
              <a:rPr lang="en-US" dirty="0" smtClean="0"/>
              <a:t>calculation of </a:t>
            </a:r>
            <a:r>
              <a:rPr lang="en-US" dirty="0"/>
              <a:t>the </a:t>
            </a:r>
            <a:r>
              <a:rPr lang="en-US" dirty="0" smtClean="0"/>
              <a:t>correlation is accurate.</a:t>
            </a:r>
            <a:endParaRPr lang="en-US" dirty="0"/>
          </a:p>
          <a:p>
            <a:pPr marL="171450" indent="-171450">
              <a:buFontTx/>
              <a:buChar char="•"/>
            </a:pPr>
            <a:r>
              <a:rPr lang="en-US" dirty="0" smtClean="0"/>
              <a:t>Evaluation of </a:t>
            </a:r>
            <a:r>
              <a:rPr lang="en-US" dirty="0"/>
              <a:t>the potential </a:t>
            </a:r>
            <a:r>
              <a:rPr lang="en-US" dirty="0" smtClean="0"/>
              <a:t>factors </a:t>
            </a:r>
            <a:r>
              <a:rPr lang="en-US" dirty="0"/>
              <a:t>that affects this correlation</a:t>
            </a:r>
            <a:r>
              <a:rPr lang="en-US" dirty="0" smtClean="0"/>
              <a:t>.</a:t>
            </a:r>
            <a:endParaRPr lang="en-US" dirty="0"/>
          </a:p>
        </p:txBody>
      </p:sp>
    </p:spTree>
    <p:extLst>
      <p:ext uri="{BB962C8B-B14F-4D97-AF65-F5344CB8AC3E}">
        <p14:creationId xmlns:p14="http://schemas.microsoft.com/office/powerpoint/2010/main" val="2649131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91407812"/>
              </p:ext>
            </p:extLst>
          </p:nvPr>
        </p:nvGraphicFramePr>
        <p:xfrm>
          <a:off x="457200" y="2209800"/>
          <a:ext cx="8378370" cy="4194627"/>
        </p:xfrm>
        <a:graphic>
          <a:graphicData uri="http://schemas.openxmlformats.org/drawingml/2006/table">
            <a:tbl>
              <a:tblPr firstRow="1" bandRow="1">
                <a:tableStyleId>{5C22544A-7EE6-4342-B048-85BDC9FD1C3A}</a:tableStyleId>
              </a:tblPr>
              <a:tblGrid>
                <a:gridCol w="1012371"/>
                <a:gridCol w="5424715"/>
                <a:gridCol w="1941284"/>
              </a:tblGrid>
              <a:tr h="337233">
                <a:tc>
                  <a:txBody>
                    <a:bodyPr/>
                    <a:lstStyle/>
                    <a:p>
                      <a:pPr marL="0" marR="0" algn="ctr">
                        <a:spcBef>
                          <a:spcPts val="0"/>
                        </a:spcBef>
                        <a:spcAft>
                          <a:spcPts val="0"/>
                        </a:spcAft>
                        <a:tabLst>
                          <a:tab pos="114300" algn="l"/>
                          <a:tab pos="457200" algn="l"/>
                          <a:tab pos="685800" algn="l"/>
                        </a:tabLst>
                      </a:pPr>
                      <a:r>
                        <a:rPr lang="en-US" sz="1600" b="1" dirty="0">
                          <a:solidFill>
                            <a:srgbClr val="FFFFFF"/>
                          </a:solidFill>
                          <a:effectLst/>
                          <a:latin typeface="Calibri"/>
                          <a:ea typeface="Times New Roman"/>
                          <a:cs typeface="Times New Roman"/>
                        </a:rPr>
                        <a:t>Task #</a:t>
                      </a:r>
                      <a:endParaRPr lang="en-US" sz="1600" dirty="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b="1">
                          <a:solidFill>
                            <a:srgbClr val="FFFFFF"/>
                          </a:solidFill>
                          <a:effectLst/>
                          <a:latin typeface="Calibri"/>
                          <a:ea typeface="Times New Roman"/>
                          <a:cs typeface="Times New Roman"/>
                        </a:rPr>
                        <a:t>Task Description</a:t>
                      </a:r>
                      <a:endParaRPr lang="en-US" sz="160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b="1">
                          <a:solidFill>
                            <a:srgbClr val="FFFFFF"/>
                          </a:solidFill>
                          <a:effectLst/>
                          <a:latin typeface="Calibri"/>
                          <a:ea typeface="Times New Roman"/>
                          <a:cs typeface="Times New Roman"/>
                        </a:rPr>
                        <a:t>Duration</a:t>
                      </a:r>
                      <a:endParaRPr lang="en-US" sz="1600">
                        <a:effectLst/>
                        <a:latin typeface="Times New Roman"/>
                        <a:ea typeface="Times New Roman"/>
                        <a:cs typeface="Times New Roman"/>
                      </a:endParaRPr>
                    </a:p>
                  </a:txBody>
                  <a:tcPr marL="68580" marR="68580" marT="0" marB="0"/>
                </a:tc>
              </a:tr>
              <a:tr h="337233">
                <a:tc>
                  <a:txBody>
                    <a:bodyPr/>
                    <a:lstStyle/>
                    <a:p>
                      <a:pPr marL="0" marR="0" algn="ctr">
                        <a:spcBef>
                          <a:spcPts val="0"/>
                        </a:spcBef>
                        <a:spcAft>
                          <a:spcPts val="0"/>
                        </a:spcAft>
                        <a:tabLst>
                          <a:tab pos="114300" algn="l"/>
                          <a:tab pos="457200" algn="l"/>
                          <a:tab pos="685800" algn="l"/>
                        </a:tabLst>
                      </a:pPr>
                      <a:r>
                        <a:rPr lang="en-US" sz="1600" b="1" i="1" dirty="0">
                          <a:effectLst/>
                          <a:latin typeface="Calibri"/>
                          <a:ea typeface="Times New Roman"/>
                          <a:cs typeface="Times New Roman"/>
                        </a:rPr>
                        <a:t>1</a:t>
                      </a:r>
                      <a:endParaRPr lang="en-US" sz="1600" dirty="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dirty="0">
                          <a:effectLst/>
                          <a:latin typeface="Calibri"/>
                          <a:ea typeface="Times New Roman"/>
                          <a:cs typeface="Times New Roman"/>
                        </a:rPr>
                        <a:t>Develop a java function to calculate method readability.</a:t>
                      </a:r>
                      <a:endParaRPr lang="en-US" sz="1600" dirty="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a:effectLst/>
                          <a:latin typeface="Calibri"/>
                          <a:ea typeface="Times New Roman"/>
                          <a:cs typeface="Times New Roman"/>
                        </a:rPr>
                        <a:t>1 Week</a:t>
                      </a:r>
                      <a:endParaRPr lang="en-US" sz="1600">
                        <a:effectLst/>
                        <a:latin typeface="Times New Roman"/>
                        <a:ea typeface="Times New Roman"/>
                        <a:cs typeface="Times New Roman"/>
                      </a:endParaRPr>
                    </a:p>
                  </a:txBody>
                  <a:tcPr marL="68580" marR="68580" marT="0" marB="0"/>
                </a:tc>
              </a:tr>
              <a:tr h="498921">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2</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a:effectLst/>
                          <a:latin typeface="Calibri"/>
                          <a:ea typeface="Times New Roman"/>
                          <a:cs typeface="Times New Roman"/>
                        </a:rPr>
                        <a:t>Develop a java function to calculate multiple method readability.</a:t>
                      </a:r>
                      <a:endParaRPr lang="en-US" sz="160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a:effectLst/>
                          <a:latin typeface="Calibri"/>
                          <a:ea typeface="Times New Roman"/>
                          <a:cs typeface="Times New Roman"/>
                        </a:rPr>
                        <a:t>2 Weeks</a:t>
                      </a:r>
                      <a:endParaRPr lang="en-US" sz="1600">
                        <a:effectLst/>
                        <a:latin typeface="Times New Roman"/>
                        <a:ea typeface="Times New Roman"/>
                        <a:cs typeface="Times New Roman"/>
                      </a:endParaRPr>
                    </a:p>
                  </a:txBody>
                  <a:tcPr marL="68580" marR="68580" marT="0" marB="0"/>
                </a:tc>
              </a:tr>
              <a:tr h="337233">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3</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dirty="0">
                          <a:effectLst/>
                          <a:latin typeface="Calibri"/>
                          <a:ea typeface="Times New Roman"/>
                          <a:cs typeface="Times New Roman"/>
                        </a:rPr>
                        <a:t>Develop a java function to calculate class readability.</a:t>
                      </a:r>
                      <a:endParaRPr lang="en-US" sz="1600" dirty="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a:effectLst/>
                          <a:latin typeface="Calibri"/>
                          <a:ea typeface="Times New Roman"/>
                          <a:cs typeface="Times New Roman"/>
                        </a:rPr>
                        <a:t>2 Weeks</a:t>
                      </a:r>
                      <a:endParaRPr lang="en-US" sz="1600">
                        <a:effectLst/>
                        <a:latin typeface="Times New Roman"/>
                        <a:ea typeface="Times New Roman"/>
                        <a:cs typeface="Times New Roman"/>
                      </a:endParaRPr>
                    </a:p>
                  </a:txBody>
                  <a:tcPr marL="68580" marR="68580" marT="0" marB="0"/>
                </a:tc>
              </a:tr>
              <a:tr h="337233">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4</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a:effectLst/>
                          <a:latin typeface="Calibri"/>
                          <a:ea typeface="Times New Roman"/>
                          <a:cs typeface="Times New Roman"/>
                        </a:rPr>
                        <a:t>Verification of tasks results and/or rectification.</a:t>
                      </a:r>
                      <a:endParaRPr lang="en-US" sz="160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a:effectLst/>
                          <a:latin typeface="Calibri"/>
                          <a:ea typeface="Times New Roman"/>
                          <a:cs typeface="Times New Roman"/>
                        </a:rPr>
                        <a:t>1 Week</a:t>
                      </a:r>
                      <a:endParaRPr lang="en-US" sz="1600">
                        <a:effectLst/>
                        <a:latin typeface="Times New Roman"/>
                        <a:ea typeface="Times New Roman"/>
                        <a:cs typeface="Times New Roman"/>
                      </a:endParaRPr>
                    </a:p>
                  </a:txBody>
                  <a:tcPr marL="68580" marR="68580" marT="0" marB="0"/>
                </a:tc>
              </a:tr>
              <a:tr h="337233">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5</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dirty="0">
                          <a:effectLst/>
                          <a:latin typeface="Calibri"/>
                          <a:ea typeface="Times New Roman"/>
                          <a:cs typeface="Times New Roman"/>
                        </a:rPr>
                        <a:t>Generate survey for students.</a:t>
                      </a:r>
                      <a:endParaRPr lang="en-US" sz="1600" dirty="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a:effectLst/>
                          <a:latin typeface="Calibri"/>
                          <a:ea typeface="Times New Roman"/>
                          <a:cs typeface="Times New Roman"/>
                        </a:rPr>
                        <a:t>1 Week</a:t>
                      </a:r>
                      <a:endParaRPr lang="en-US" sz="1600">
                        <a:effectLst/>
                        <a:latin typeface="Times New Roman"/>
                        <a:ea typeface="Times New Roman"/>
                        <a:cs typeface="Times New Roman"/>
                      </a:endParaRPr>
                    </a:p>
                  </a:txBody>
                  <a:tcPr marL="68580" marR="68580" marT="0" marB="0"/>
                </a:tc>
              </a:tr>
              <a:tr h="337233">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6</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a:effectLst/>
                          <a:latin typeface="Calibri"/>
                          <a:ea typeface="Times New Roman"/>
                          <a:cs typeface="Times New Roman"/>
                        </a:rPr>
                        <a:t>Deploy survey and await completion.</a:t>
                      </a:r>
                      <a:endParaRPr lang="en-US" sz="160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a:effectLst/>
                          <a:latin typeface="Calibri"/>
                          <a:ea typeface="Times New Roman"/>
                          <a:cs typeface="Times New Roman"/>
                        </a:rPr>
                        <a:t>2 Weeks</a:t>
                      </a:r>
                      <a:endParaRPr lang="en-US" sz="1600">
                        <a:effectLst/>
                        <a:latin typeface="Times New Roman"/>
                        <a:ea typeface="Times New Roman"/>
                        <a:cs typeface="Times New Roman"/>
                      </a:endParaRPr>
                    </a:p>
                  </a:txBody>
                  <a:tcPr marL="68580" marR="68580" marT="0" marB="0"/>
                </a:tc>
              </a:tr>
              <a:tr h="337233">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7</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dirty="0">
                          <a:effectLst/>
                          <a:latin typeface="Calibri"/>
                          <a:ea typeface="Times New Roman"/>
                          <a:cs typeface="Times New Roman"/>
                        </a:rPr>
                        <a:t>Analyze survey results and prepare for correlation task.</a:t>
                      </a:r>
                      <a:endParaRPr lang="en-US" sz="1600" dirty="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a:effectLst/>
                          <a:latin typeface="Calibri"/>
                          <a:ea typeface="Times New Roman"/>
                          <a:cs typeface="Times New Roman"/>
                        </a:rPr>
                        <a:t>1 Week</a:t>
                      </a:r>
                      <a:endParaRPr lang="en-US" sz="1600">
                        <a:effectLst/>
                        <a:latin typeface="Times New Roman"/>
                        <a:ea typeface="Times New Roman"/>
                        <a:cs typeface="Times New Roman"/>
                      </a:endParaRPr>
                    </a:p>
                  </a:txBody>
                  <a:tcPr marL="68580" marR="68580" marT="0" marB="0"/>
                </a:tc>
              </a:tr>
              <a:tr h="498921">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8</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a:effectLst/>
                          <a:latin typeface="Calibri"/>
                          <a:ea typeface="Times New Roman"/>
                          <a:cs typeface="Times New Roman"/>
                        </a:rPr>
                        <a:t>Evaluate the correlation between subjective and objective data.</a:t>
                      </a:r>
                      <a:endParaRPr lang="en-US" sz="160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dirty="0">
                          <a:effectLst/>
                          <a:latin typeface="Calibri"/>
                          <a:ea typeface="Times New Roman"/>
                          <a:cs typeface="Times New Roman"/>
                        </a:rPr>
                        <a:t>2 Weeks</a:t>
                      </a:r>
                      <a:endParaRPr lang="en-US" sz="1600" dirty="0">
                        <a:effectLst/>
                        <a:latin typeface="Times New Roman"/>
                        <a:ea typeface="Times New Roman"/>
                        <a:cs typeface="Times New Roman"/>
                      </a:endParaRPr>
                    </a:p>
                  </a:txBody>
                  <a:tcPr marL="68580" marR="68580" marT="0" marB="0"/>
                </a:tc>
              </a:tr>
              <a:tr h="337233">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9</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a:effectLst/>
                          <a:latin typeface="Calibri"/>
                          <a:ea typeface="Times New Roman"/>
                          <a:cs typeface="Times New Roman"/>
                        </a:rPr>
                        <a:t>Verify testing and calculation of correlation is accurate.</a:t>
                      </a:r>
                      <a:endParaRPr lang="en-US" sz="160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dirty="0">
                          <a:effectLst/>
                          <a:latin typeface="Calibri"/>
                          <a:ea typeface="Times New Roman"/>
                          <a:cs typeface="Times New Roman"/>
                        </a:rPr>
                        <a:t>1 Week</a:t>
                      </a:r>
                      <a:endParaRPr lang="en-US" sz="1600" dirty="0">
                        <a:effectLst/>
                        <a:latin typeface="Times New Roman"/>
                        <a:ea typeface="Times New Roman"/>
                        <a:cs typeface="Times New Roman"/>
                      </a:endParaRPr>
                    </a:p>
                  </a:txBody>
                  <a:tcPr marL="68580" marR="68580" marT="0" marB="0"/>
                </a:tc>
              </a:tr>
              <a:tr h="498921">
                <a:tc>
                  <a:txBody>
                    <a:bodyPr/>
                    <a:lstStyle/>
                    <a:p>
                      <a:pPr marL="0" marR="0" algn="ctr">
                        <a:spcBef>
                          <a:spcPts val="0"/>
                        </a:spcBef>
                        <a:spcAft>
                          <a:spcPts val="0"/>
                        </a:spcAft>
                        <a:tabLst>
                          <a:tab pos="114300" algn="l"/>
                          <a:tab pos="457200" algn="l"/>
                          <a:tab pos="685800" algn="l"/>
                        </a:tabLst>
                      </a:pPr>
                      <a:r>
                        <a:rPr lang="en-US" sz="1600" b="1" i="1">
                          <a:effectLst/>
                          <a:latin typeface="Calibri"/>
                          <a:ea typeface="Times New Roman"/>
                          <a:cs typeface="Times New Roman"/>
                        </a:rPr>
                        <a:t>10</a:t>
                      </a:r>
                      <a:endParaRPr lang="en-US" sz="1600">
                        <a:effectLst/>
                        <a:latin typeface="Times New Roman"/>
                        <a:ea typeface="Times New Roman"/>
                        <a:cs typeface="Times New Roman"/>
                      </a:endParaRPr>
                    </a:p>
                  </a:txBody>
                  <a:tcPr marL="68580" marR="68580" marT="0" marB="0"/>
                </a:tc>
                <a:tc>
                  <a:txBody>
                    <a:bodyPr/>
                    <a:lstStyle/>
                    <a:p>
                      <a:pPr marL="0" marR="0" algn="just">
                        <a:spcBef>
                          <a:spcPts val="0"/>
                        </a:spcBef>
                        <a:spcAft>
                          <a:spcPts val="0"/>
                        </a:spcAft>
                        <a:tabLst>
                          <a:tab pos="114300" algn="l"/>
                          <a:tab pos="457200" algn="l"/>
                          <a:tab pos="685800" algn="l"/>
                        </a:tabLst>
                      </a:pPr>
                      <a:r>
                        <a:rPr lang="en-US" sz="1600">
                          <a:effectLst/>
                          <a:latin typeface="Calibri"/>
                          <a:ea typeface="Times New Roman"/>
                          <a:cs typeface="Times New Roman"/>
                        </a:rPr>
                        <a:t>Evaluation of the potential factors that affect this correlation.</a:t>
                      </a:r>
                      <a:endParaRPr lang="en-US" sz="1600">
                        <a:effectLst/>
                        <a:latin typeface="Times New Roman"/>
                        <a:ea typeface="Times New Roman"/>
                        <a:cs typeface="Times New Roman"/>
                      </a:endParaRPr>
                    </a:p>
                  </a:txBody>
                  <a:tcPr marL="68580" marR="68580" marT="0" marB="0"/>
                </a:tc>
                <a:tc>
                  <a:txBody>
                    <a:bodyPr/>
                    <a:lstStyle/>
                    <a:p>
                      <a:pPr marL="0" marR="0" algn="ctr">
                        <a:spcBef>
                          <a:spcPts val="0"/>
                        </a:spcBef>
                        <a:spcAft>
                          <a:spcPts val="0"/>
                        </a:spcAft>
                        <a:tabLst>
                          <a:tab pos="114300" algn="l"/>
                          <a:tab pos="457200" algn="l"/>
                          <a:tab pos="685800" algn="l"/>
                        </a:tabLst>
                      </a:pPr>
                      <a:r>
                        <a:rPr lang="en-US" sz="1600" dirty="0">
                          <a:effectLst/>
                          <a:latin typeface="Calibri"/>
                          <a:ea typeface="Times New Roman"/>
                          <a:cs typeface="Times New Roman"/>
                        </a:rPr>
                        <a:t>1 Week</a:t>
                      </a:r>
                      <a:endParaRPr lang="en-US" sz="1600" dirty="0">
                        <a:effectLst/>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957753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5200" y="2703285"/>
            <a:ext cx="7126514" cy="1451429"/>
          </a:xfrm>
        </p:spPr>
        <p:txBody>
          <a:bodyPr>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6600" b="1" cap="all" dirty="0" smtClean="0">
                <a:ln/>
                <a:effectLst>
                  <a:outerShdw blurRad="19685" dist="12700" dir="5400000" algn="tl" rotWithShape="0">
                    <a:schemeClr val="accent1">
                      <a:satMod val="130000"/>
                      <a:alpha val="60000"/>
                    </a:schemeClr>
                  </a:outerShdw>
                  <a:reflection blurRad="10000" stA="55000" endPos="48000" dist="500" dir="5400000" sy="-100000" algn="bl" rotWithShape="0"/>
                </a:effectLst>
              </a:rPr>
              <a:t>THANK YOU</a:t>
            </a:r>
            <a:endParaRPr lang="en-US" sz="6600" b="1" cap="all" dirty="0">
              <a:ln/>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extLst>
      <p:ext uri="{BB962C8B-B14F-4D97-AF65-F5344CB8AC3E}">
        <p14:creationId xmlns:p14="http://schemas.microsoft.com/office/powerpoint/2010/main" val="3708184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ANTLR (Another Tool for Language Recognition)</a:t>
            </a:r>
            <a:endParaRPr lang="en-US" dirty="0"/>
          </a:p>
        </p:txBody>
      </p:sp>
      <p:sp>
        <p:nvSpPr>
          <p:cNvPr id="3" name="Content Placeholder 2"/>
          <p:cNvSpPr>
            <a:spLocks noGrp="1"/>
          </p:cNvSpPr>
          <p:nvPr>
            <p:ph idx="1"/>
          </p:nvPr>
        </p:nvSpPr>
        <p:spPr/>
        <p:txBody>
          <a:bodyPr/>
          <a:lstStyle/>
          <a:p>
            <a:r>
              <a:rPr lang="en-US" dirty="0" smtClean="0"/>
              <a:t>It is a powerful parser generator that can do:</a:t>
            </a:r>
          </a:p>
          <a:p>
            <a:pPr lvl="1"/>
            <a:r>
              <a:rPr lang="en-US" dirty="0" smtClean="0"/>
              <a:t>Reading</a:t>
            </a:r>
          </a:p>
          <a:p>
            <a:pPr lvl="1"/>
            <a:r>
              <a:rPr lang="en-US" dirty="0" smtClean="0"/>
              <a:t>Processing</a:t>
            </a:r>
          </a:p>
          <a:p>
            <a:pPr lvl="1"/>
            <a:r>
              <a:rPr lang="en-US" dirty="0" smtClean="0"/>
              <a:t>Executing</a:t>
            </a:r>
          </a:p>
          <a:p>
            <a:pPr lvl="1"/>
            <a:r>
              <a:rPr lang="en-US" dirty="0" smtClean="0"/>
              <a:t>Translating Structured text/binary files</a:t>
            </a:r>
          </a:p>
          <a:p>
            <a:r>
              <a:rPr lang="en-US" dirty="0" smtClean="0"/>
              <a:t>It’s widely used to build languages, tools, and frameworks.</a:t>
            </a:r>
          </a:p>
          <a:p>
            <a:r>
              <a:rPr lang="en-US" dirty="0" smtClean="0"/>
              <a:t>From a grammar, ANTLR generates a parser that can build and walk parse trees.</a:t>
            </a:r>
            <a:endParaRPr lang="en-US" dirty="0"/>
          </a:p>
        </p:txBody>
      </p:sp>
    </p:spTree>
    <p:extLst>
      <p:ext uri="{BB962C8B-B14F-4D97-AF65-F5344CB8AC3E}">
        <p14:creationId xmlns:p14="http://schemas.microsoft.com/office/powerpoint/2010/main" val="874035938"/>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Plaza">
  <a:themeElements>
    <a:clrScheme name="Plaza">
      <a:dk1>
        <a:sysClr val="windowText" lastClr="000000"/>
      </a:dk1>
      <a:lt1>
        <a:sysClr val="window" lastClr="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6721</TotalTime>
  <Words>1378</Words>
  <Application>Microsoft Macintosh PowerPoint</Application>
  <PresentationFormat>On-screen Show (4:3)</PresentationFormat>
  <Paragraphs>222</Paragraphs>
  <Slides>25</Slides>
  <Notes>9</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Plaza</vt:lpstr>
      <vt:lpstr>Code Readability of a Java Source code</vt:lpstr>
      <vt:lpstr>Background </vt:lpstr>
      <vt:lpstr>Background  (cont.)</vt:lpstr>
      <vt:lpstr>Introduction</vt:lpstr>
      <vt:lpstr>Java Lexical Grammar</vt:lpstr>
      <vt:lpstr>Objective</vt:lpstr>
      <vt:lpstr>Approach (3 Phases)</vt:lpstr>
      <vt:lpstr>Types of Software Code</vt:lpstr>
      <vt:lpstr>Types of Software Code</vt:lpstr>
      <vt:lpstr>Types of Software Code</vt:lpstr>
      <vt:lpstr>Types of Software Code</vt:lpstr>
      <vt:lpstr>Technical Approach</vt:lpstr>
      <vt:lpstr>Report Gen. (Phase 1, Task 1)</vt:lpstr>
      <vt:lpstr>Report Gen. (Phase 1, Task 2)</vt:lpstr>
      <vt:lpstr>Report Gen. (Phase 1, Task 3)</vt:lpstr>
      <vt:lpstr>Phase 2: Method Readability</vt:lpstr>
      <vt:lpstr>Readability of Variables</vt:lpstr>
      <vt:lpstr>Phase 3:  Determining Concreteness</vt:lpstr>
      <vt:lpstr>Demonstration of Algorithm</vt:lpstr>
      <vt:lpstr>Results:</vt:lpstr>
      <vt:lpstr>Technical Approach</vt:lpstr>
      <vt:lpstr>Measures of Success</vt:lpstr>
      <vt:lpstr>Schedule</vt:lpstr>
      <vt:lpstr>THANK YOU</vt:lpstr>
      <vt:lpstr>ANTLR (Another Tool for Language Recognition)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Readability of a Java Class</dc:title>
  <dc:creator>Amer</dc:creator>
  <cp:lastModifiedBy>Amer</cp:lastModifiedBy>
  <cp:revision>46</cp:revision>
  <dcterms:created xsi:type="dcterms:W3CDTF">2015-03-24T15:24:21Z</dcterms:created>
  <dcterms:modified xsi:type="dcterms:W3CDTF">2016-04-18T21:31:33Z</dcterms:modified>
</cp:coreProperties>
</file>